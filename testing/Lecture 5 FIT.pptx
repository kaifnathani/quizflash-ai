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41"/>
  </p:notesMasterIdLst>
  <p:sldIdLst>
    <p:sldId id="321" r:id="rId2"/>
    <p:sldId id="322" r:id="rId3"/>
    <p:sldId id="323" r:id="rId4"/>
    <p:sldId id="262" r:id="rId5"/>
    <p:sldId id="263" r:id="rId6"/>
    <p:sldId id="257" r:id="rId7"/>
    <p:sldId id="267" r:id="rId8"/>
    <p:sldId id="272" r:id="rId9"/>
    <p:sldId id="327" r:id="rId10"/>
    <p:sldId id="268" r:id="rId11"/>
    <p:sldId id="269" r:id="rId12"/>
    <p:sldId id="270" r:id="rId13"/>
    <p:sldId id="295" r:id="rId14"/>
    <p:sldId id="271" r:id="rId15"/>
    <p:sldId id="337" r:id="rId16"/>
    <p:sldId id="274" r:id="rId17"/>
    <p:sldId id="264" r:id="rId18"/>
    <p:sldId id="328" r:id="rId19"/>
    <p:sldId id="329" r:id="rId20"/>
    <p:sldId id="331" r:id="rId21"/>
    <p:sldId id="265" r:id="rId22"/>
    <p:sldId id="339" r:id="rId23"/>
    <p:sldId id="340" r:id="rId24"/>
    <p:sldId id="341" r:id="rId25"/>
    <p:sldId id="342" r:id="rId26"/>
    <p:sldId id="296" r:id="rId27"/>
    <p:sldId id="294" r:id="rId28"/>
    <p:sldId id="297" r:id="rId29"/>
    <p:sldId id="298" r:id="rId30"/>
    <p:sldId id="304" r:id="rId31"/>
    <p:sldId id="332" r:id="rId32"/>
    <p:sldId id="333" r:id="rId33"/>
    <p:sldId id="334" r:id="rId34"/>
    <p:sldId id="335" r:id="rId35"/>
    <p:sldId id="336" r:id="rId36"/>
    <p:sldId id="330" r:id="rId37"/>
    <p:sldId id="276" r:id="rId38"/>
    <p:sldId id="302" r:id="rId39"/>
    <p:sldId id="338" r:id="rId40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87621" autoAdjust="0"/>
  </p:normalViewPr>
  <p:slideViewPr>
    <p:cSldViewPr>
      <p:cViewPr varScale="1">
        <p:scale>
          <a:sx n="86" d="100"/>
          <a:sy n="86" d="100"/>
        </p:scale>
        <p:origin x="828" y="6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32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12/20/2022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>
            <a:extLst/>
          </a:lstStyle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>
            <a:extLst/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90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2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firewall acts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gatekeeper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monitors attempts to gain access to your operating system and blocks unwanted traffic or unrecognized sources. ... A firewall acts as a barrier or filter between your computer and another network such as the internet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508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6AD2CA-9D61-45CA-B27F-A72E52228052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b="1" i="1" smtClean="0">
                <a:cs typeface="Times New Roman" pitchFamily="18" charset="0"/>
              </a:rPr>
              <a:t>Teaching Tip</a:t>
            </a:r>
          </a:p>
          <a:p>
            <a:pPr eaLnBrk="1" hangingPunct="1"/>
            <a:r>
              <a:rPr lang="en-US" smtClean="0"/>
              <a:t>File and folder storage is covered in chapter 6. </a:t>
            </a:r>
          </a:p>
        </p:txBody>
      </p:sp>
    </p:spTree>
    <p:extLst>
      <p:ext uri="{BB962C8B-B14F-4D97-AF65-F5344CB8AC3E}">
        <p14:creationId xmlns:p14="http://schemas.microsoft.com/office/powerpoint/2010/main" val="257692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C3CDA9-DF5A-4B6B-AC8F-46F24B4636E8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b="1" i="1" dirty="0" smtClean="0">
                <a:cs typeface="Times New Roman" pitchFamily="18" charset="0"/>
              </a:rPr>
              <a:t>Teaching tip</a:t>
            </a:r>
          </a:p>
          <a:p>
            <a:pPr eaLnBrk="1" hangingPunct="1"/>
            <a:r>
              <a:rPr lang="en-US" dirty="0" smtClean="0"/>
              <a:t>It is true that multi-tasking operating systems are complex. However both XP and OS X make the multitasking process painless for the user. </a:t>
            </a:r>
          </a:p>
        </p:txBody>
      </p:sp>
    </p:spTree>
    <p:extLst>
      <p:ext uri="{BB962C8B-B14F-4D97-AF65-F5344CB8AC3E}">
        <p14:creationId xmlns:p14="http://schemas.microsoft.com/office/powerpoint/2010/main" val="328258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147FC1-80A2-4024-B4A2-B337F219DE7D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b="1" i="1" dirty="0" smtClean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7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26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520A8E13-9028-452F-848B-2739E5DFC5C0}" type="datetime1">
              <a:rPr lang="en-US" smtClean="0">
                <a:solidFill>
                  <a:srgbClr val="FFFFFF"/>
                </a:solidFill>
              </a:rPr>
              <a:pPr algn="ctr"/>
              <a:t>12/20/2022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78D3FAB-9E63-4F6D-A64F-E9173C9924A8}" type="datetime1">
              <a:rPr lang="en-US" smtClean="0"/>
              <a:pPr/>
              <a:t>12/20/2022</a:t>
            </a:fld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aseline="0"/>
            </a:lvl1pPr>
            <a:extLst/>
          </a:lstStyle>
          <a:p>
            <a:fld id="{8F82E0A0-C266-4798-8C8F-B9F91E9DA3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91A236A-F8EC-4EE4-86F0-343613DD3E68}" type="datetime1">
              <a:rPr lang="en-US" smtClean="0"/>
              <a:pPr/>
              <a:t>12/20/2022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53F2E54F-F6B8-493F-AFD1-C0EC0D6175D9}" type="datetime1">
              <a:rPr lang="en-US" smtClean="0"/>
              <a:pPr/>
              <a:t>12/20/2022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AEA84F9F-5E0F-4CE9-B4FE-13886C934F1A}" type="datetime1">
              <a:rPr lang="en-US" smtClean="0"/>
              <a:pPr/>
              <a:t>12/20/2022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AF5E95-E7C0-4066-BBD0-4DA92D74E299}" type="datetime1">
              <a:rPr lang="en-US" smtClean="0"/>
              <a:pPr/>
              <a:t>12/20/2022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B2CD1C8-9A86-4B25-9AED-A3E2D97360C9}" type="datetime1">
              <a:rPr lang="en-US" smtClean="0"/>
              <a:pPr/>
              <a:t>12/20/2022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29683E8-8B45-4408-924C-DBCF43BB717B}" type="datetime1">
              <a:rPr lang="en-US" smtClean="0"/>
              <a:pPr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solidFill>
            <a:schemeClr val="bg1"/>
          </a:solidFill>
          <a:ln w="50800" cap="sq" cmpd="dbl" algn="ctr">
            <a:solidFill>
              <a:schemeClr val="bg1">
                <a:lumMod val="95000"/>
              </a:schemeClr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>
            <a:extLst/>
          </a:lstStyle>
          <a:p>
            <a:fld id="{F7FA1A3A-8FD8-48E1-98D2-4C8C3B79DD2D}" type="datetime1">
              <a:rPr lang="en-US" smtClean="0"/>
              <a:pPr/>
              <a:t>12/20/2022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>
            <a:extLst/>
          </a:lstStyle>
          <a:p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F7C07-14C9-4ACC-AFC3-3F8B16220B92}" type="datetime1">
              <a:rPr lang="en-US" altLang="en-US" smtClean="0"/>
              <a:pPr>
                <a:defRPr/>
              </a:pPr>
              <a:t>12/20/2022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74F98-4B1E-4139-A78F-9442D59428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F1D3C1CC-F0C3-44D9-8B85-FD16D6275B32}" type="datetime1">
              <a:rPr lang="en-US" smtClean="0"/>
              <a:pPr/>
              <a:t>12/20/2022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hf hdr="0" ftr="0" dt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2362200" y="1047750"/>
            <a:ext cx="6400800" cy="3352800"/>
          </a:xfrm>
        </p:spPr>
        <p:txBody>
          <a:bodyPr>
            <a:normAutofit/>
          </a:bodyPr>
          <a:lstStyle>
            <a:extLst/>
          </a:lstStyle>
          <a:p>
            <a:pPr algn="ctr"/>
            <a:r>
              <a:rPr lang="en-US" sz="4400" b="1" dirty="0" smtClean="0"/>
              <a:t>Introduction to Software</a:t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b="1" dirty="0" smtClean="0">
                <a:solidFill>
                  <a:srgbClr val="0070C0"/>
                </a:solidFill>
              </a:rPr>
              <a:t>Lecture 5 : week 11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>
            <a:extLst/>
          </a:lstStyle>
          <a:p>
            <a:r>
              <a:rPr lang="en-US" dirty="0" smtClean="0"/>
              <a:t>Credit : (02) / Week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959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97"/>
    </mc:Choice>
    <mc:Fallback xmlns="">
      <p:transition spd="slow" advTm="2109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AND REF. BOOKS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5181600" cy="3581400"/>
          </a:xfr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200" b="1" dirty="0" smtClean="0">
                <a:solidFill>
                  <a:srgbClr val="002060"/>
                </a:solidFill>
              </a:rPr>
              <a:t> </a:t>
            </a:r>
            <a:r>
              <a:rPr lang="en-US" b="1" dirty="0" smtClean="0">
                <a:solidFill>
                  <a:srgbClr val="002060"/>
                </a:solidFill>
              </a:rPr>
              <a:t>Text Book:</a:t>
            </a:r>
            <a:endParaRPr lang="en-US" sz="1600" dirty="0" smtClean="0">
              <a:solidFill>
                <a:srgbClr val="002060"/>
              </a:solidFill>
            </a:endParaRP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 smtClean="0">
                <a:solidFill>
                  <a:srgbClr val="002060"/>
                </a:solidFill>
              </a:rPr>
              <a:t> Peter Norton (2011), </a:t>
            </a:r>
            <a:r>
              <a:rPr lang="en-US" sz="1600" b="1" dirty="0" smtClean="0">
                <a:solidFill>
                  <a:srgbClr val="002060"/>
                </a:solidFill>
              </a:rPr>
              <a:t>Introduction to Computers</a:t>
            </a:r>
            <a:r>
              <a:rPr lang="en-US" sz="1600" dirty="0" smtClean="0">
                <a:solidFill>
                  <a:srgbClr val="002060"/>
                </a:solidFill>
              </a:rPr>
              <a:t>, 7 /e, McGraw-Hill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GB" sz="1600" dirty="0" smtClean="0">
                <a:solidFill>
                  <a:srgbClr val="002060"/>
                </a:solidFill>
              </a:rPr>
              <a:t> </a:t>
            </a:r>
            <a:r>
              <a:rPr lang="en-US" b="1" dirty="0" smtClean="0">
                <a:solidFill>
                  <a:srgbClr val="002060"/>
                </a:solidFill>
              </a:rPr>
              <a:t>Reference Book:</a:t>
            </a:r>
            <a:endParaRPr lang="en-US" sz="1600" dirty="0" smtClean="0">
              <a:solidFill>
                <a:srgbClr val="002060"/>
              </a:solidFill>
            </a:endParaRP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 smtClean="0">
                <a:solidFill>
                  <a:srgbClr val="002060"/>
                </a:solidFill>
              </a:rPr>
              <a:t> Gary B (2012), </a:t>
            </a:r>
            <a:r>
              <a:rPr lang="en-US" sz="1600" b="1" dirty="0" smtClean="0">
                <a:solidFill>
                  <a:srgbClr val="002060"/>
                </a:solidFill>
              </a:rPr>
              <a:t>Discovering Computers</a:t>
            </a:r>
            <a:r>
              <a:rPr lang="en-US" sz="1600" dirty="0" smtClean="0">
                <a:solidFill>
                  <a:srgbClr val="002060"/>
                </a:solidFill>
              </a:rPr>
              <a:t>, 1/e, South Western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 smtClean="0">
                <a:solidFill>
                  <a:srgbClr val="002060"/>
                </a:solidFill>
              </a:rPr>
              <a:t> Deborah (2013), </a:t>
            </a:r>
            <a:r>
              <a:rPr lang="en-US" sz="1600" b="1" dirty="0" smtClean="0">
                <a:solidFill>
                  <a:srgbClr val="002060"/>
                </a:solidFill>
              </a:rPr>
              <a:t>Understanding Computers</a:t>
            </a:r>
            <a:r>
              <a:rPr lang="en-US" sz="1600" dirty="0" smtClean="0">
                <a:solidFill>
                  <a:srgbClr val="002060"/>
                </a:solidFill>
              </a:rPr>
              <a:t>, 14/e, </a:t>
            </a:r>
            <a:r>
              <a:rPr lang="en-US" sz="1600" dirty="0" err="1" smtClean="0">
                <a:solidFill>
                  <a:srgbClr val="002060"/>
                </a:solidFill>
              </a:rPr>
              <a:t>Cengage</a:t>
            </a:r>
            <a:r>
              <a:rPr lang="en-US" sz="1600" dirty="0" smtClean="0">
                <a:solidFill>
                  <a:srgbClr val="002060"/>
                </a:solidFill>
              </a:rPr>
              <a:t> Learning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600" dirty="0" smtClean="0">
                <a:solidFill>
                  <a:srgbClr val="002060"/>
                </a:solidFill>
              </a:rPr>
              <a:t> June P &amp; Dan O (2014), </a:t>
            </a:r>
            <a:r>
              <a:rPr lang="en-US" sz="1600" b="1" dirty="0" smtClean="0">
                <a:solidFill>
                  <a:srgbClr val="002060"/>
                </a:solidFill>
              </a:rPr>
              <a:t>New Perspective on Computer</a:t>
            </a:r>
            <a:r>
              <a:rPr lang="en-US" sz="1600" dirty="0" smtClean="0">
                <a:solidFill>
                  <a:srgbClr val="002060"/>
                </a:solidFill>
              </a:rPr>
              <a:t>, 16/e</a:t>
            </a:r>
          </a:p>
          <a:p>
            <a:endParaRPr lang="en-US" sz="1200" dirty="0">
              <a:solidFill>
                <a:srgbClr val="002060"/>
              </a:solidFill>
            </a:endParaRPr>
          </a:p>
        </p:txBody>
      </p:sp>
      <p:pic>
        <p:nvPicPr>
          <p:cNvPr id="8" name="Content Placeholder 7" descr="course book.jpg"/>
          <p:cNvPicPr>
            <a:picLocks noGrp="1" noChangeAspect="1"/>
          </p:cNvPicPr>
          <p:nvPr>
            <p:ph sz="quarter" idx="13"/>
          </p:nvPr>
        </p:nvPicPr>
        <p:blipFill>
          <a:blip r:embed="rId2" cstate="print"/>
          <a:stretch>
            <a:fillRect/>
          </a:stretch>
        </p:blipFill>
        <p:spPr>
          <a:xfrm>
            <a:off x="6071321" y="1428750"/>
            <a:ext cx="2844079" cy="3550056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981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6"/>
    </mc:Choice>
    <mc:Fallback xmlns="">
      <p:transition spd="slow" advTm="14916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 smtClean="0">
                <a:solidFill>
                  <a:srgbClr val="FF0000"/>
                </a:solidFill>
              </a:rPr>
              <a:t>MOBILE ALERT</a:t>
            </a:r>
            <a:endParaRPr 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505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500" dirty="0" smtClean="0"/>
              <a:t>Kindly </a:t>
            </a:r>
            <a:r>
              <a:rPr lang="en-US" sz="3500" b="1" dirty="0" smtClean="0">
                <a:solidFill>
                  <a:srgbClr val="00B050"/>
                </a:solidFill>
              </a:rPr>
              <a:t>Switch Off </a:t>
            </a:r>
            <a:r>
              <a:rPr lang="en-US" sz="3500" dirty="0" smtClean="0"/>
              <a:t>your Mobile/Cell Phone</a:t>
            </a:r>
          </a:p>
          <a:p>
            <a:endParaRPr lang="en-US" sz="3500" dirty="0" smtClean="0"/>
          </a:p>
          <a:p>
            <a:pPr>
              <a:buNone/>
            </a:pPr>
            <a:endParaRPr lang="en-US" sz="3500" dirty="0" smtClean="0"/>
          </a:p>
          <a:p>
            <a:pPr>
              <a:buNone/>
            </a:pPr>
            <a:r>
              <a:rPr lang="en-US" sz="3500" dirty="0" smtClean="0"/>
              <a:t>OR</a:t>
            </a:r>
          </a:p>
          <a:p>
            <a:pPr>
              <a:buNone/>
            </a:pPr>
            <a:endParaRPr lang="en-US" sz="3500" dirty="0" smtClean="0"/>
          </a:p>
          <a:p>
            <a:pPr>
              <a:buNone/>
            </a:pPr>
            <a:endParaRPr lang="en-US" sz="3500" dirty="0" smtClean="0"/>
          </a:p>
          <a:p>
            <a:pPr>
              <a:buNone/>
            </a:pPr>
            <a:r>
              <a:rPr lang="en-US" sz="3500" dirty="0" smtClean="0"/>
              <a:t>Switch it to </a:t>
            </a:r>
            <a:r>
              <a:rPr lang="en-US" sz="3500" b="1" dirty="0" smtClean="0">
                <a:solidFill>
                  <a:srgbClr val="00B050"/>
                </a:solidFill>
              </a:rPr>
              <a:t>Silent Mode</a:t>
            </a:r>
            <a:r>
              <a:rPr lang="en-US" sz="3500" b="1" dirty="0" smtClean="0"/>
              <a:t> </a:t>
            </a:r>
            <a:r>
              <a:rPr lang="en-US" sz="3500" dirty="0" smtClean="0"/>
              <a:t>Please</a:t>
            </a:r>
            <a:endParaRPr lang="en-US" dirty="0"/>
          </a:p>
        </p:txBody>
      </p:sp>
      <p:pic>
        <p:nvPicPr>
          <p:cNvPr id="5" name="Picture 4" descr="mhiCs9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1800" y="1917700"/>
            <a:ext cx="2214966" cy="217805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053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9"/>
    </mc:Choice>
    <mc:Fallback xmlns="">
      <p:transition spd="slow" advTm="2599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1160163"/>
            <a:ext cx="7620000" cy="742950"/>
          </a:xfrm>
        </p:spPr>
        <p:txBody>
          <a:bodyPr>
            <a:normAutofit/>
          </a:bodyPr>
          <a:lstStyle/>
          <a:p>
            <a:r>
              <a:rPr lang="en-US" sz="2800" b="1" i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Simra Najm</a:t>
            </a:r>
            <a:r>
              <a:rPr lang="en-US" sz="3600" dirty="0" smtClean="0"/>
              <a:t>	</a:t>
            </a:r>
            <a:endParaRPr lang="en-US" sz="3600" dirty="0"/>
          </a:p>
        </p:txBody>
      </p:sp>
      <p:sp>
        <p:nvSpPr>
          <p:cNvPr id="7" name="Rectangle 11"/>
          <p:cNvSpPr txBox="1">
            <a:spLocks/>
          </p:cNvSpPr>
          <p:nvPr/>
        </p:nvSpPr>
        <p:spPr>
          <a:xfrm>
            <a:off x="533400" y="20937"/>
            <a:ext cx="9067800" cy="1181100"/>
          </a:xfrm>
          <a:prstGeom prst="rect">
            <a:avLst/>
          </a:prstGeom>
        </p:spPr>
        <p:txBody>
          <a:bodyPr vert="horz" rtlCol="0" anchor="b">
            <a:noAutofit/>
          </a:bodyPr>
          <a:lstStyle>
            <a:lvl1pPr>
              <a:defRPr cap="all" baseline="0"/>
            </a:lvl1pPr>
            <a:extLst/>
          </a:lstStyle>
          <a:p>
            <a:r>
              <a:rPr lang="en-US" sz="2800" b="1" dirty="0" smtClean="0">
                <a:solidFill>
                  <a:srgbClr val="0070C0"/>
                </a:solidFill>
              </a:rPr>
              <a:t>                  Working with  Software </a:t>
            </a:r>
          </a:p>
          <a:p>
            <a:r>
              <a:rPr lang="en-US" sz="2800" b="1" dirty="0" smtClean="0">
                <a:solidFill>
                  <a:srgbClr val="0070C0"/>
                </a:solidFill>
              </a:rPr>
              <a:t>          system software &amp; application software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4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33400" y="2876550"/>
            <a:ext cx="7123113" cy="1254919"/>
          </a:xfrm>
        </p:spPr>
        <p:txBody>
          <a:bodyPr>
            <a:normAutofit/>
          </a:bodyPr>
          <a:lstStyle/>
          <a:p>
            <a:r>
              <a:rPr lang="en-US" sz="1600" b="1" i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Assistant Professor</a:t>
            </a:r>
          </a:p>
          <a:p>
            <a:r>
              <a:rPr lang="en-US" sz="1600" b="1" i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 simranajm@neduet.edu.pk</a:t>
            </a:r>
            <a:endParaRPr lang="en-US" sz="16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528" y="0"/>
            <a:ext cx="135302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p:transition advTm="12927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82694"/>
            <a:ext cx="8153400" cy="1005840"/>
          </a:xfrm>
        </p:spPr>
        <p:txBody>
          <a:bodyPr/>
          <a:lstStyle/>
          <a:p>
            <a:r>
              <a:rPr lang="en-US" dirty="0" smtClean="0"/>
              <a:t>Learning Outcome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79095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What is Software</a:t>
            </a:r>
            <a:endParaRPr lang="en-GB" dirty="0" smtClean="0"/>
          </a:p>
          <a:p>
            <a:r>
              <a:rPr lang="en-GB" dirty="0" smtClean="0"/>
              <a:t>Software Types</a:t>
            </a:r>
          </a:p>
          <a:p>
            <a:pPr lvl="1"/>
            <a:r>
              <a:rPr lang="en-GB" dirty="0" smtClean="0"/>
              <a:t>System Software</a:t>
            </a:r>
          </a:p>
          <a:p>
            <a:pPr lvl="1"/>
            <a:r>
              <a:rPr lang="en-GB" dirty="0" smtClean="0"/>
              <a:t>Application Software </a:t>
            </a:r>
            <a:r>
              <a:rPr lang="en-GB" sz="1900" dirty="0" smtClean="0"/>
              <a:t>(Word processor, Spreadsheets, Presentation etc)</a:t>
            </a:r>
            <a:endParaRPr lang="en-GB" dirty="0" smtClean="0"/>
          </a:p>
          <a:p>
            <a:pPr lvl="1"/>
            <a:r>
              <a:rPr lang="en-GB" dirty="0" smtClean="0"/>
              <a:t>Open Source Software</a:t>
            </a:r>
          </a:p>
          <a:p>
            <a:pPr lvl="1"/>
            <a:r>
              <a:rPr lang="en-GB" dirty="0" smtClean="0"/>
              <a:t>Proprietary Software</a:t>
            </a:r>
          </a:p>
          <a:p>
            <a:pPr lvl="1"/>
            <a:r>
              <a:rPr lang="en-GB" dirty="0" smtClean="0"/>
              <a:t>Utility Software</a:t>
            </a:r>
          </a:p>
          <a:p>
            <a:r>
              <a:rPr lang="en-GB" dirty="0" smtClean="0"/>
              <a:t>Malicious Software</a:t>
            </a:r>
          </a:p>
          <a:p>
            <a:r>
              <a:rPr lang="en-GB" dirty="0" smtClean="0"/>
              <a:t>Acquiring a Software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295399" cy="1047750"/>
          </a:xfrm>
          <a:prstGeom prst="rect">
            <a:avLst/>
          </a:prstGeom>
          <a:noFill/>
        </p:spPr>
      </p:pic>
    </p:spTree>
  </p:cSld>
  <p:clrMapOvr>
    <a:masterClrMapping/>
  </p:clrMapOvr>
  <p:transition advTm="21851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1" y="163830"/>
            <a:ext cx="8153400" cy="1005840"/>
          </a:xfrm>
        </p:spPr>
        <p:txBody>
          <a:bodyPr/>
          <a:lstStyle/>
          <a:p>
            <a:r>
              <a:rPr lang="en-US" dirty="0" smtClean="0"/>
              <a:t>What is a Software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smtClean="0"/>
              <a:t>Computer software</a:t>
            </a:r>
            <a:r>
              <a:rPr lang="en-US" smtClean="0"/>
              <a:t>, or simply </a:t>
            </a:r>
            <a:r>
              <a:rPr lang="en-US" b="1" smtClean="0">
                <a:solidFill>
                  <a:srgbClr val="0070C0"/>
                </a:solidFill>
              </a:rPr>
              <a:t>software</a:t>
            </a:r>
            <a:r>
              <a:rPr lang="en-US" smtClean="0"/>
              <a:t> is any set of </a:t>
            </a:r>
            <a:r>
              <a:rPr lang="en-US" smtClean="0">
                <a:solidFill>
                  <a:srgbClr val="0070C0"/>
                </a:solidFill>
              </a:rPr>
              <a:t>machine-readable</a:t>
            </a:r>
            <a:r>
              <a:rPr lang="en-US" smtClean="0"/>
              <a:t> instructions that </a:t>
            </a:r>
            <a:r>
              <a:rPr lang="en-US" smtClean="0">
                <a:solidFill>
                  <a:srgbClr val="0070C0"/>
                </a:solidFill>
              </a:rPr>
              <a:t>directs</a:t>
            </a:r>
            <a:r>
              <a:rPr lang="en-US" smtClean="0"/>
              <a:t> a computer's </a:t>
            </a:r>
            <a:r>
              <a:rPr lang="en-US" smtClean="0">
                <a:solidFill>
                  <a:srgbClr val="0070C0"/>
                </a:solidFill>
              </a:rPr>
              <a:t>processor</a:t>
            </a:r>
            <a:r>
              <a:rPr lang="en-US" smtClean="0"/>
              <a:t> to perform specific operations.</a:t>
            </a:r>
          </a:p>
          <a:p>
            <a:pPr algn="just">
              <a:buNone/>
            </a:pPr>
            <a:endParaRPr lang="en-US" smtClean="0"/>
          </a:p>
          <a:p>
            <a:pPr algn="just"/>
            <a:r>
              <a:rPr lang="en-US" smtClean="0"/>
              <a:t>Software tells the computer </a:t>
            </a:r>
            <a:r>
              <a:rPr lang="en-US" smtClean="0">
                <a:solidFill>
                  <a:srgbClr val="0070C0"/>
                </a:solidFill>
              </a:rPr>
              <a:t>what to do and how to do.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680"/>
    </mc:Choice>
    <mc:Fallback xmlns="">
      <p:transition spd="slow" advTm="8968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166672"/>
            <a:ext cx="8153400" cy="1005840"/>
          </a:xfrm>
        </p:spPr>
        <p:txBody>
          <a:bodyPr/>
          <a:lstStyle/>
          <a:p>
            <a:pPr eaLnBrk="1" hangingPunct="1"/>
            <a:r>
              <a:rPr lang="en-US" sz="4000" dirty="0" smtClean="0">
                <a:latin typeface="Arial" charset="0"/>
              </a:rPr>
              <a:t>Types of Software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609600" y="1428750"/>
            <a:ext cx="5181600" cy="3429000"/>
          </a:xfrm>
        </p:spPr>
        <p:txBody>
          <a:bodyPr>
            <a:normAutofit/>
          </a:bodyPr>
          <a:lstStyle/>
          <a:p>
            <a:pPr marL="152718" lvl="1" indent="0"/>
            <a:r>
              <a:rPr lang="en-US" sz="3600" dirty="0" smtClean="0"/>
              <a:t> System Software</a:t>
            </a:r>
          </a:p>
          <a:p>
            <a:pPr marL="152718" lvl="1" indent="0"/>
            <a:r>
              <a:rPr lang="en-US" sz="3600" dirty="0" smtClean="0"/>
              <a:t> Application Software</a:t>
            </a:r>
          </a:p>
          <a:p>
            <a:pPr marL="152718" lvl="1" indent="0"/>
            <a:r>
              <a:rPr lang="en-US" sz="3600" dirty="0" smtClean="0"/>
              <a:t> Open Source Software</a:t>
            </a:r>
          </a:p>
          <a:p>
            <a:pPr marL="152718" lvl="1" indent="0"/>
            <a:r>
              <a:rPr lang="en-US" sz="3600" dirty="0" smtClean="0"/>
              <a:t> Proprietary Software</a:t>
            </a:r>
          </a:p>
          <a:p>
            <a:pPr marL="152718" lvl="1" indent="0"/>
            <a:r>
              <a:rPr lang="en-US" sz="3600" dirty="0" smtClean="0"/>
              <a:t> Malicious Software</a:t>
            </a:r>
          </a:p>
        </p:txBody>
      </p:sp>
      <p:pic>
        <p:nvPicPr>
          <p:cNvPr id="5" name="Picture 4" descr="O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48400" y="1362075"/>
            <a:ext cx="2543175" cy="378142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7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59009" y="75757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755"/>
    </mc:Choice>
    <mc:Fallback xmlns="">
      <p:transition spd="slow" advTm="80755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17667"/>
            <a:ext cx="8153400" cy="1005840"/>
          </a:xfrm>
        </p:spPr>
        <p:txBody>
          <a:bodyPr/>
          <a:lstStyle/>
          <a:p>
            <a:r>
              <a:rPr lang="en-US" dirty="0" smtClean="0"/>
              <a:t>System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4572000" cy="3581399"/>
          </a:xfrm>
        </p:spPr>
        <p:txBody>
          <a:bodyPr>
            <a:normAutofit fontScale="92500"/>
          </a:bodyPr>
          <a:lstStyle/>
          <a:p>
            <a:pPr algn="just"/>
            <a:r>
              <a:rPr lang="en-US" smtClean="0"/>
              <a:t>A </a:t>
            </a:r>
            <a:r>
              <a:rPr lang="en-US" smtClean="0">
                <a:solidFill>
                  <a:srgbClr val="0070C0"/>
                </a:solidFill>
              </a:rPr>
              <a:t>program</a:t>
            </a:r>
            <a:r>
              <a:rPr lang="en-US" smtClean="0"/>
              <a:t> or set of programs that is especially designed to </a:t>
            </a:r>
            <a:r>
              <a:rPr lang="en-US" smtClean="0">
                <a:solidFill>
                  <a:srgbClr val="0070C0"/>
                </a:solidFill>
              </a:rPr>
              <a:t>control</a:t>
            </a:r>
            <a:r>
              <a:rPr lang="en-US" smtClean="0"/>
              <a:t> different operations of computer system is called </a:t>
            </a:r>
            <a:r>
              <a:rPr lang="en-US" smtClean="0">
                <a:solidFill>
                  <a:srgbClr val="0070C0"/>
                </a:solidFill>
              </a:rPr>
              <a:t>system software</a:t>
            </a:r>
            <a:r>
              <a:rPr lang="en-US" smtClean="0"/>
              <a:t>. It controls the working of different components of the computer. </a:t>
            </a:r>
          </a:p>
          <a:p>
            <a:pPr algn="just">
              <a:buNone/>
            </a:pPr>
            <a:endParaRPr lang="en-US" dirty="0"/>
          </a:p>
        </p:txBody>
      </p:sp>
      <p:pic>
        <p:nvPicPr>
          <p:cNvPr id="6" name="Content Placeholder 5" descr="TG2-1.jpg"/>
          <p:cNvPicPr>
            <a:picLocks noGrp="1" noChangeAspect="1"/>
          </p:cNvPicPr>
          <p:nvPr>
            <p:ph sz="quarter" idx="14"/>
          </p:nvPr>
        </p:nvPicPr>
        <p:blipFill>
          <a:blip r:embed="rId2" cstate="print"/>
          <a:stretch>
            <a:fillRect/>
          </a:stretch>
        </p:blipFill>
        <p:spPr>
          <a:xfrm>
            <a:off x="5562600" y="1428750"/>
            <a:ext cx="3268663" cy="326866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43"/>
    </mc:Choice>
    <mc:Fallback xmlns="">
      <p:transition spd="slow" advTm="170443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630" y="194310"/>
            <a:ext cx="8153400" cy="1005840"/>
          </a:xfrm>
        </p:spPr>
        <p:txBody>
          <a:bodyPr/>
          <a:lstStyle/>
          <a:p>
            <a:r>
              <a:rPr lang="en-US" dirty="0" smtClean="0"/>
              <a:t>System Software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solidFill>
                  <a:srgbClr val="00B0F0"/>
                </a:solidFill>
              </a:rPr>
              <a:t>System software</a:t>
            </a:r>
            <a:r>
              <a:rPr lang="en-US" dirty="0" smtClean="0"/>
              <a:t> is computer </a:t>
            </a:r>
            <a:r>
              <a:rPr lang="en-US" b="1" dirty="0" smtClean="0"/>
              <a:t>software</a:t>
            </a:r>
            <a:r>
              <a:rPr lang="en-US" dirty="0" smtClean="0"/>
              <a:t> designed to operate and control the computer hardware and to provide a platform for running </a:t>
            </a:r>
            <a:r>
              <a:rPr lang="en-US" b="1" dirty="0" smtClean="0">
                <a:solidFill>
                  <a:srgbClr val="00B0F0"/>
                </a:solidFill>
              </a:rPr>
              <a:t>application software </a:t>
            </a:r>
          </a:p>
          <a:p>
            <a:pPr algn="just"/>
            <a:r>
              <a:rPr lang="en-US" b="1" dirty="0" smtClean="0"/>
              <a:t>System software</a:t>
            </a:r>
            <a:r>
              <a:rPr lang="en-US" dirty="0" smtClean="0"/>
              <a:t> can be separated into two different categories, </a:t>
            </a:r>
            <a:r>
              <a:rPr lang="en-US" dirty="0" smtClean="0">
                <a:solidFill>
                  <a:srgbClr val="00B0F0"/>
                </a:solidFill>
              </a:rPr>
              <a:t>operating</a:t>
            </a:r>
            <a:r>
              <a:rPr lang="en-US" dirty="0" smtClean="0"/>
              <a:t> </a:t>
            </a:r>
            <a:r>
              <a:rPr lang="en-US" b="1" dirty="0" smtClean="0"/>
              <a:t>systems</a:t>
            </a:r>
            <a:r>
              <a:rPr lang="en-US" dirty="0" smtClean="0"/>
              <a:t> and </a:t>
            </a:r>
            <a:r>
              <a:rPr lang="en-US" dirty="0" smtClean="0">
                <a:solidFill>
                  <a:srgbClr val="00B0F0"/>
                </a:solidFill>
              </a:rPr>
              <a:t>utility</a:t>
            </a:r>
            <a:r>
              <a:rPr lang="en-US" dirty="0" smtClean="0"/>
              <a:t> </a:t>
            </a:r>
            <a:r>
              <a:rPr lang="en-US" b="1" dirty="0" smtClean="0"/>
              <a:t>software</a:t>
            </a:r>
          </a:p>
          <a:p>
            <a:pPr algn="just"/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862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460"/>
    </mc:Choice>
    <mc:Fallback xmlns="">
      <p:transition spd="slow" advTm="13646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4084" y="61889"/>
            <a:ext cx="8153400" cy="100584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 smtClean="0">
                <a:latin typeface="Arial" charset="0"/>
              </a:rPr>
              <a:t>System Software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609600" y="1352550"/>
            <a:ext cx="8382000" cy="3657600"/>
          </a:xfrm>
        </p:spPr>
        <p:txBody>
          <a:bodyPr>
            <a:noAutofit/>
          </a:bodyPr>
          <a:lstStyle/>
          <a:p>
            <a:pPr algn="just"/>
            <a:r>
              <a:rPr lang="en-US" sz="2700" dirty="0" smtClean="0"/>
              <a:t>System Software includes the </a:t>
            </a:r>
            <a:r>
              <a:rPr lang="en-US" sz="2700" dirty="0" smtClean="0">
                <a:solidFill>
                  <a:srgbClr val="0070C0"/>
                </a:solidFill>
              </a:rPr>
              <a:t>Operating System (OS) </a:t>
            </a:r>
            <a:r>
              <a:rPr lang="en-US" sz="2700" dirty="0" smtClean="0"/>
              <a:t>and all the </a:t>
            </a:r>
            <a:r>
              <a:rPr lang="en-US" sz="2700" dirty="0" smtClean="0">
                <a:solidFill>
                  <a:srgbClr val="0070C0"/>
                </a:solidFill>
              </a:rPr>
              <a:t>utilities</a:t>
            </a:r>
            <a:r>
              <a:rPr lang="en-US" sz="2700" dirty="0" smtClean="0"/>
              <a:t> that enable the computer to function. </a:t>
            </a:r>
          </a:p>
          <a:p>
            <a:pPr algn="just"/>
            <a:r>
              <a:rPr lang="en-US" sz="2700" dirty="0" smtClean="0"/>
              <a:t>System software is a term referring to any computer software which </a:t>
            </a:r>
            <a:r>
              <a:rPr lang="en-US" sz="2700" dirty="0" smtClean="0">
                <a:solidFill>
                  <a:srgbClr val="0070C0"/>
                </a:solidFill>
              </a:rPr>
              <a:t>manages and controls </a:t>
            </a:r>
            <a:r>
              <a:rPr lang="en-US" sz="2700" dirty="0" smtClean="0"/>
              <a:t>the hardware so that </a:t>
            </a:r>
            <a:r>
              <a:rPr lang="en-US" sz="2700" dirty="0" smtClean="0">
                <a:solidFill>
                  <a:srgbClr val="0070C0"/>
                </a:solidFill>
              </a:rPr>
              <a:t>application software </a:t>
            </a:r>
            <a:r>
              <a:rPr lang="en-US" sz="2700" dirty="0" smtClean="0"/>
              <a:t>can perform a </a:t>
            </a:r>
            <a:r>
              <a:rPr lang="en-US" sz="2700" dirty="0" smtClean="0">
                <a:solidFill>
                  <a:srgbClr val="0070C0"/>
                </a:solidFill>
              </a:rPr>
              <a:t>task.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700" dirty="0" smtClean="0"/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700" dirty="0" smtClean="0"/>
              <a:t>   Operating Systems, Device Drivers, Interpreters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508"/>
    </mc:Choice>
    <mc:Fallback xmlns="">
      <p:transition spd="slow" advTm="336508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       Application Software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1352550"/>
            <a:ext cx="8302752" cy="379095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4000" dirty="0" smtClean="0"/>
              <a:t>It is a set of one or more </a:t>
            </a:r>
            <a:r>
              <a:rPr lang="en-US" sz="4000" dirty="0" smtClean="0">
                <a:solidFill>
                  <a:srgbClr val="0070C0"/>
                </a:solidFill>
              </a:rPr>
              <a:t>programs</a:t>
            </a:r>
            <a:r>
              <a:rPr lang="en-US" sz="4000" dirty="0" smtClean="0"/>
              <a:t> designed to carry out </a:t>
            </a:r>
            <a:r>
              <a:rPr lang="en-US" sz="4000" b="1" dirty="0" smtClean="0">
                <a:solidFill>
                  <a:srgbClr val="0070C0"/>
                </a:solidFill>
              </a:rPr>
              <a:t>operations</a:t>
            </a:r>
            <a:r>
              <a:rPr lang="en-US" sz="4000" dirty="0" smtClean="0"/>
              <a:t> for a </a:t>
            </a:r>
            <a:r>
              <a:rPr lang="en-US" sz="4000" b="1" dirty="0" smtClean="0">
                <a:solidFill>
                  <a:srgbClr val="0070C0"/>
                </a:solidFill>
              </a:rPr>
              <a:t>specific application</a:t>
            </a:r>
            <a:r>
              <a:rPr lang="en-US" sz="4000" dirty="0" smtClean="0"/>
              <a:t>. Application software </a:t>
            </a:r>
            <a:r>
              <a:rPr lang="en-US" sz="4000" b="1" dirty="0" smtClean="0">
                <a:solidFill>
                  <a:srgbClr val="0070C0"/>
                </a:solidFill>
              </a:rPr>
              <a:t>cannot run on itself </a:t>
            </a:r>
            <a:r>
              <a:rPr lang="en-US" sz="4000" dirty="0" smtClean="0"/>
              <a:t>but is dependent on system software to execute.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 smtClean="0"/>
          </a:p>
          <a:p>
            <a:pPr algn="just"/>
            <a:r>
              <a:rPr lang="en-US" sz="4000" dirty="0" smtClean="0"/>
              <a:t>Example:</a:t>
            </a:r>
          </a:p>
          <a:p>
            <a:pPr algn="just">
              <a:buNone/>
            </a:pPr>
            <a:r>
              <a:rPr lang="en-US" sz="4000" dirty="0" smtClean="0"/>
              <a:t>	Payroll systems, Inventory Control, </a:t>
            </a:r>
          </a:p>
          <a:p>
            <a:pPr algn="just">
              <a:buNone/>
            </a:pPr>
            <a:r>
              <a:rPr lang="en-US" sz="4000" dirty="0" smtClean="0"/>
              <a:t>	Word Processor, Spreadsheet </a:t>
            </a:r>
          </a:p>
          <a:p>
            <a:pPr algn="just">
              <a:buNone/>
            </a:pPr>
            <a:r>
              <a:rPr lang="en-US" sz="4000" dirty="0" smtClean="0"/>
              <a:t>	and Database Management System etc.,</a:t>
            </a:r>
          </a:p>
        </p:txBody>
      </p:sp>
      <p:pic>
        <p:nvPicPr>
          <p:cNvPr id="4" name="Picture 3" descr="Application-software-Overvi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77000" y="2571750"/>
            <a:ext cx="2381250" cy="1905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fld id="{10F74F98-4B1E-4139-A78F-9442D594285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117"/>
    </mc:Choice>
    <mc:Fallback xmlns="">
      <p:transition spd="slow" advTm="26011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      Open Source Software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1352550"/>
            <a:ext cx="8153400" cy="3657600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sz="2600" b="1" dirty="0" smtClean="0"/>
              <a:t>   </a:t>
            </a:r>
            <a:r>
              <a:rPr lang="en-US" sz="2600" dirty="0" smtClean="0"/>
              <a:t>Open source software (OSS) is computer software whose </a:t>
            </a:r>
            <a:r>
              <a:rPr lang="en-US" sz="2600" b="1" dirty="0" smtClean="0">
                <a:solidFill>
                  <a:srgbClr val="0070C0"/>
                </a:solidFill>
              </a:rPr>
              <a:t>source code </a:t>
            </a:r>
            <a:r>
              <a:rPr lang="en-US" sz="2600" dirty="0" smtClean="0"/>
              <a:t>is available under a </a:t>
            </a:r>
            <a:r>
              <a:rPr lang="en-US" sz="2600" b="1" dirty="0" smtClean="0">
                <a:solidFill>
                  <a:srgbClr val="0070C0"/>
                </a:solidFill>
              </a:rPr>
              <a:t>license</a:t>
            </a:r>
            <a:r>
              <a:rPr lang="en-US" sz="2600" dirty="0" smtClean="0"/>
              <a:t> that permits users to </a:t>
            </a:r>
            <a:r>
              <a:rPr lang="en-US" sz="2600" b="1" dirty="0" smtClean="0">
                <a:solidFill>
                  <a:srgbClr val="0070C0"/>
                </a:solidFill>
              </a:rPr>
              <a:t>use, change, and improve </a:t>
            </a:r>
            <a:r>
              <a:rPr lang="en-US" sz="2600" dirty="0" smtClean="0"/>
              <a:t>the software, and to redistribute it in modified or unmodified form. </a:t>
            </a:r>
          </a:p>
          <a:p>
            <a:pPr algn="just" eaLnBrk="1" hangingPunct="1">
              <a:buNone/>
            </a:pPr>
            <a:endParaRPr lang="en-US" sz="2600" dirty="0" smtClean="0"/>
          </a:p>
          <a:p>
            <a:pPr algn="just" eaLnBrk="1" hangingPunct="1"/>
            <a:r>
              <a:rPr lang="en-US" sz="2600" dirty="0" smtClean="0"/>
              <a:t>    It is often developed in a public, collaborative manner.    </a:t>
            </a:r>
          </a:p>
          <a:p>
            <a:pPr lvl="1" algn="just"/>
            <a:r>
              <a:rPr lang="en-US" dirty="0" smtClean="0"/>
              <a:t>Well-known OSS products are Linux, Netscape, Apache, etc.,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fld id="{10F74F98-4B1E-4139-A78F-9442D594285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125"/>
    </mc:Choice>
    <mc:Fallback xmlns="">
      <p:transition spd="slow" advTm="8712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Open Source Software</a:t>
            </a:r>
            <a:endParaRPr lang="en-US" dirty="0"/>
          </a:p>
        </p:txBody>
      </p:sp>
      <p:pic>
        <p:nvPicPr>
          <p:cNvPr id="6" name="Content Placeholder 5" descr="opensource.jpg"/>
          <p:cNvPicPr>
            <a:picLocks noGrp="1" noChangeAspect="1"/>
          </p:cNvPicPr>
          <p:nvPr>
            <p:ph sz="quarter" idx="13"/>
          </p:nvPr>
        </p:nvPicPr>
        <p:blipFill>
          <a:blip r:embed="rId2" cstate="print"/>
          <a:stretch>
            <a:fillRect/>
          </a:stretch>
        </p:blipFill>
        <p:spPr>
          <a:xfrm>
            <a:off x="838200" y="1352550"/>
            <a:ext cx="7315200" cy="36576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00"/>
    </mc:Choice>
    <mc:Fallback xmlns="">
      <p:transition spd="slow" advTm="375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     Proprietary Software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609600" y="1352550"/>
            <a:ext cx="8153400" cy="36576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b="1" dirty="0" smtClean="0"/>
              <a:t>Proprietary software</a:t>
            </a:r>
            <a:r>
              <a:rPr lang="en-US" sz="2800" dirty="0" smtClean="0"/>
              <a:t> (</a:t>
            </a:r>
            <a:r>
              <a:rPr lang="en-US" sz="2800" b="1" dirty="0" smtClean="0"/>
              <a:t>non-free software</a:t>
            </a:r>
            <a:r>
              <a:rPr lang="en-US" sz="2800" dirty="0" smtClean="0"/>
              <a:t>) </a:t>
            </a:r>
          </a:p>
          <a:p>
            <a:pPr lvl="1" algn="just"/>
            <a:r>
              <a:rPr lang="en-US" sz="2800" dirty="0" smtClean="0"/>
              <a:t>Software with </a:t>
            </a:r>
            <a:r>
              <a:rPr lang="en-US" sz="2800" b="1" dirty="0" smtClean="0">
                <a:solidFill>
                  <a:srgbClr val="00B0F0"/>
                </a:solidFill>
              </a:rPr>
              <a:t>restrictions</a:t>
            </a:r>
            <a:r>
              <a:rPr lang="en-US" sz="2800" dirty="0" smtClean="0"/>
              <a:t> on </a:t>
            </a:r>
            <a:r>
              <a:rPr lang="en-US" sz="2800" b="1" dirty="0" smtClean="0">
                <a:solidFill>
                  <a:srgbClr val="00B0F0"/>
                </a:solidFill>
              </a:rPr>
              <a:t>using</a:t>
            </a:r>
            <a:r>
              <a:rPr lang="en-US" sz="2800" dirty="0" smtClean="0"/>
              <a:t>, </a:t>
            </a:r>
            <a:r>
              <a:rPr lang="en-US" sz="2800" b="1" dirty="0" smtClean="0">
                <a:solidFill>
                  <a:srgbClr val="00B0F0"/>
                </a:solidFill>
              </a:rPr>
              <a:t>copying</a:t>
            </a:r>
            <a:r>
              <a:rPr lang="en-US" sz="2800" dirty="0" smtClean="0"/>
              <a:t> and </a:t>
            </a:r>
            <a:r>
              <a:rPr lang="en-US" sz="2800" b="1" dirty="0" smtClean="0">
                <a:solidFill>
                  <a:srgbClr val="00B0F0"/>
                </a:solidFill>
              </a:rPr>
              <a:t>modifying</a:t>
            </a:r>
            <a:r>
              <a:rPr lang="en-US" sz="2800" dirty="0" smtClean="0"/>
              <a:t> as enforced by the proprietor. Restrictions on use, modification and copying is achieved by either legal or technical means and sometimes both</a:t>
            </a:r>
            <a:r>
              <a:rPr lang="en-US" sz="2500" dirty="0" smtClean="0"/>
              <a:t>. </a:t>
            </a:r>
          </a:p>
          <a:p>
            <a:pPr eaLnBrk="1" hangingPunct="1"/>
            <a:r>
              <a:rPr lang="en-US" sz="2800" dirty="0" smtClean="0"/>
              <a:t>Proponents (advocate) of proprietary software are Microsoft.</a:t>
            </a:r>
          </a:p>
          <a:p>
            <a:pPr eaLnBrk="1" hangingPunct="1"/>
            <a:r>
              <a:rPr lang="en-US" sz="2800" dirty="0" smtClean="0"/>
              <a:t>Example : MS Office/Windows, CAD, Norton AV etc., </a:t>
            </a:r>
          </a:p>
          <a:p>
            <a:pPr eaLnBrk="1" hangingPunct="1"/>
            <a:endParaRPr lang="en-US" sz="2400" dirty="0" smtClean="0"/>
          </a:p>
        </p:txBody>
      </p:sp>
      <p:pic>
        <p:nvPicPr>
          <p:cNvPr id="4" name="Picture 3" descr="13329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25868" y="0"/>
            <a:ext cx="1818132" cy="161293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78"/>
    </mc:Choice>
    <mc:Fallback xmlns="">
      <p:transition spd="slow" advTm="150078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     Proprietary Software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609600" y="1352550"/>
            <a:ext cx="8153400" cy="36576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b="1" dirty="0" smtClean="0"/>
              <a:t>Proprietary software</a:t>
            </a:r>
            <a:r>
              <a:rPr lang="en-US" sz="2800" dirty="0" smtClean="0"/>
              <a:t> (</a:t>
            </a:r>
            <a:r>
              <a:rPr lang="en-US" sz="2800" b="1" dirty="0" smtClean="0"/>
              <a:t>non-free software</a:t>
            </a:r>
            <a:r>
              <a:rPr lang="en-US" sz="2800" dirty="0" smtClean="0"/>
              <a:t>) </a:t>
            </a:r>
          </a:p>
          <a:p>
            <a:pPr lvl="1" algn="just"/>
            <a:r>
              <a:rPr lang="en-US" sz="2800" dirty="0" smtClean="0"/>
              <a:t>Software with </a:t>
            </a:r>
            <a:r>
              <a:rPr lang="en-US" sz="2800" b="1" dirty="0" smtClean="0">
                <a:solidFill>
                  <a:srgbClr val="00B0F0"/>
                </a:solidFill>
              </a:rPr>
              <a:t>restrictions</a:t>
            </a:r>
            <a:r>
              <a:rPr lang="en-US" sz="2800" dirty="0" smtClean="0"/>
              <a:t> on </a:t>
            </a:r>
            <a:r>
              <a:rPr lang="en-US" sz="2800" b="1" dirty="0" smtClean="0">
                <a:solidFill>
                  <a:srgbClr val="00B0F0"/>
                </a:solidFill>
              </a:rPr>
              <a:t>using</a:t>
            </a:r>
            <a:r>
              <a:rPr lang="en-US" sz="2800" dirty="0" smtClean="0"/>
              <a:t>, </a:t>
            </a:r>
            <a:r>
              <a:rPr lang="en-US" sz="2800" b="1" dirty="0" smtClean="0">
                <a:solidFill>
                  <a:srgbClr val="00B0F0"/>
                </a:solidFill>
              </a:rPr>
              <a:t>copying</a:t>
            </a:r>
            <a:r>
              <a:rPr lang="en-US" sz="2800" dirty="0" smtClean="0"/>
              <a:t> and </a:t>
            </a:r>
            <a:r>
              <a:rPr lang="en-US" sz="2800" b="1" dirty="0" smtClean="0">
                <a:solidFill>
                  <a:srgbClr val="00B0F0"/>
                </a:solidFill>
              </a:rPr>
              <a:t>modifying</a:t>
            </a:r>
            <a:r>
              <a:rPr lang="en-US" sz="2800" dirty="0" smtClean="0"/>
              <a:t> as enforced by the proprietor. Restrictions on use, modification and copying is achieved by either legal or technical means and sometimes both</a:t>
            </a:r>
            <a:r>
              <a:rPr lang="en-US" sz="2500" dirty="0" smtClean="0"/>
              <a:t>. </a:t>
            </a:r>
          </a:p>
          <a:p>
            <a:pPr eaLnBrk="1" hangingPunct="1"/>
            <a:r>
              <a:rPr lang="en-US" sz="2800" dirty="0" smtClean="0"/>
              <a:t>Proponents (advocate) of proprietary software are Microsoft.</a:t>
            </a:r>
          </a:p>
          <a:p>
            <a:pPr eaLnBrk="1" hangingPunct="1"/>
            <a:r>
              <a:rPr lang="en-US" sz="2800" dirty="0" smtClean="0"/>
              <a:t>Example : MS Office/Windows, CAD, Norton AV etc., </a:t>
            </a:r>
          </a:p>
          <a:p>
            <a:pPr eaLnBrk="1" hangingPunct="1"/>
            <a:endParaRPr lang="en-US" sz="2400" dirty="0" smtClean="0"/>
          </a:p>
        </p:txBody>
      </p:sp>
      <p:pic>
        <p:nvPicPr>
          <p:cNvPr id="4" name="Picture 3" descr="13329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25868" y="0"/>
            <a:ext cx="1818132" cy="161293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749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767"/>
    </mc:Choice>
    <mc:Fallback xmlns="">
      <p:transition spd="slow" advTm="134767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      Types of System Software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152718" lvl="1" indent="0">
              <a:lnSpc>
                <a:spcPct val="200000"/>
              </a:lnSpc>
            </a:pPr>
            <a:r>
              <a:rPr lang="en-US" sz="4000" dirty="0" smtClean="0"/>
              <a:t> </a:t>
            </a:r>
            <a:r>
              <a:rPr lang="en-US" sz="4500" dirty="0" smtClean="0"/>
              <a:t>OS Software</a:t>
            </a:r>
          </a:p>
          <a:p>
            <a:pPr marL="152718" lvl="1" indent="0">
              <a:lnSpc>
                <a:spcPct val="200000"/>
              </a:lnSpc>
            </a:pPr>
            <a:r>
              <a:rPr lang="en-US" sz="4500" dirty="0" smtClean="0"/>
              <a:t> Device driver</a:t>
            </a:r>
          </a:p>
          <a:p>
            <a:pPr marL="152718" lvl="1" indent="0">
              <a:lnSpc>
                <a:spcPct val="200000"/>
              </a:lnSpc>
              <a:buNone/>
            </a:pPr>
            <a:endParaRPr lang="en-US" sz="4500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152718" lvl="1" indent="0">
              <a:lnSpc>
                <a:spcPct val="200000"/>
              </a:lnSpc>
            </a:pPr>
            <a:r>
              <a:rPr lang="en-US" sz="4500" dirty="0" smtClean="0"/>
              <a:t> Utilities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47500" lnSpcReduction="20000"/>
          </a:bodyPr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16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454"/>
    </mc:Choice>
    <mc:Fallback xmlns="">
      <p:transition spd="slow" advTm="24454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Operating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657600"/>
          </a:xfrm>
        </p:spPr>
        <p:txBody>
          <a:bodyPr/>
          <a:lstStyle/>
          <a:p>
            <a:pPr algn="just"/>
            <a:r>
              <a:rPr lang="en-US" dirty="0" smtClean="0"/>
              <a:t>An operating system </a:t>
            </a:r>
            <a:r>
              <a:rPr lang="en-US" b="1" dirty="0" smtClean="0">
                <a:solidFill>
                  <a:srgbClr val="0070C0"/>
                </a:solidFill>
              </a:rPr>
              <a:t>(OS) </a:t>
            </a:r>
            <a:r>
              <a:rPr lang="en-US" dirty="0" smtClean="0"/>
              <a:t>is software that </a:t>
            </a:r>
            <a:r>
              <a:rPr lang="en-US" b="1" dirty="0" smtClean="0">
                <a:solidFill>
                  <a:srgbClr val="0070C0"/>
                </a:solidFill>
              </a:rPr>
              <a:t>manages</a:t>
            </a:r>
            <a:r>
              <a:rPr lang="en-US" dirty="0" smtClean="0"/>
              <a:t> computer </a:t>
            </a:r>
            <a:r>
              <a:rPr lang="en-US" b="1" dirty="0" smtClean="0">
                <a:solidFill>
                  <a:srgbClr val="0070C0"/>
                </a:solidFill>
              </a:rPr>
              <a:t>hardware and software </a:t>
            </a:r>
            <a:r>
              <a:rPr lang="en-US" dirty="0" smtClean="0"/>
              <a:t>resources and provides </a:t>
            </a:r>
            <a:r>
              <a:rPr lang="en-US" b="1" dirty="0" smtClean="0">
                <a:solidFill>
                  <a:srgbClr val="0070C0"/>
                </a:solidFill>
              </a:rPr>
              <a:t>common services</a:t>
            </a:r>
            <a:r>
              <a:rPr lang="en-US" dirty="0" smtClean="0"/>
              <a:t> for computer programs. </a:t>
            </a:r>
          </a:p>
          <a:p>
            <a:pPr algn="just"/>
            <a:r>
              <a:rPr lang="en-US" dirty="0" smtClean="0"/>
              <a:t>Various characteristics of OS are described as</a:t>
            </a:r>
            <a:endParaRPr lang="en-US" dirty="0"/>
          </a:p>
        </p:txBody>
      </p:sp>
      <p:pic>
        <p:nvPicPr>
          <p:cNvPr id="4" name="Picture 3" descr="platform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71600" y="3790950"/>
            <a:ext cx="6858000" cy="11176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701"/>
    </mc:Choice>
    <mc:Fallback xmlns="">
      <p:transition spd="slow" advTm="6470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Operating System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en-US" sz="3200" dirty="0" smtClean="0"/>
              <a:t>Operating systems perform basic tasks, such as recognizing </a:t>
            </a:r>
            <a:r>
              <a:rPr lang="en-US" sz="3200" dirty="0" smtClean="0">
                <a:solidFill>
                  <a:srgbClr val="00B0F0"/>
                </a:solidFill>
              </a:rPr>
              <a:t>input</a:t>
            </a:r>
            <a:r>
              <a:rPr lang="en-US" sz="3200" dirty="0" smtClean="0"/>
              <a:t> from the </a:t>
            </a:r>
            <a:r>
              <a:rPr lang="en-US" sz="3200" dirty="0" smtClean="0">
                <a:solidFill>
                  <a:srgbClr val="00B0F0"/>
                </a:solidFill>
              </a:rPr>
              <a:t>keyboard</a:t>
            </a:r>
            <a:r>
              <a:rPr lang="en-US" sz="3200" dirty="0" smtClean="0"/>
              <a:t>, sending </a:t>
            </a:r>
            <a:r>
              <a:rPr lang="en-US" sz="3200" dirty="0" smtClean="0">
                <a:solidFill>
                  <a:srgbClr val="00B0F0"/>
                </a:solidFill>
              </a:rPr>
              <a:t>output </a:t>
            </a:r>
            <a:r>
              <a:rPr lang="en-US" sz="3200" dirty="0" smtClean="0"/>
              <a:t>to the </a:t>
            </a:r>
            <a:r>
              <a:rPr lang="en-US" sz="3200" dirty="0" smtClean="0">
                <a:solidFill>
                  <a:srgbClr val="00B0F0"/>
                </a:solidFill>
              </a:rPr>
              <a:t>display</a:t>
            </a:r>
            <a:r>
              <a:rPr lang="en-US" sz="3200" dirty="0" smtClean="0"/>
              <a:t> screen, keeping track of </a:t>
            </a:r>
            <a:r>
              <a:rPr lang="en-US" sz="3200" dirty="0" smtClean="0">
                <a:solidFill>
                  <a:srgbClr val="00B0F0"/>
                </a:solidFill>
              </a:rPr>
              <a:t>files</a:t>
            </a:r>
            <a:r>
              <a:rPr lang="en-US" sz="3200" dirty="0" smtClean="0"/>
              <a:t> and </a:t>
            </a:r>
            <a:r>
              <a:rPr lang="en-US" sz="3200" dirty="0" smtClean="0">
                <a:solidFill>
                  <a:srgbClr val="00B0F0"/>
                </a:solidFill>
              </a:rPr>
              <a:t>directories</a:t>
            </a:r>
            <a:r>
              <a:rPr lang="en-US" sz="3200" dirty="0" smtClean="0"/>
              <a:t> on the </a:t>
            </a:r>
            <a:r>
              <a:rPr lang="en-US" sz="3200" dirty="0" smtClean="0">
                <a:solidFill>
                  <a:srgbClr val="00B0F0"/>
                </a:solidFill>
              </a:rPr>
              <a:t>disk</a:t>
            </a:r>
            <a:r>
              <a:rPr lang="en-US" sz="3200" dirty="0" smtClean="0"/>
              <a:t>, and controlling </a:t>
            </a:r>
            <a:r>
              <a:rPr lang="en-US" sz="3200" dirty="0" smtClean="0">
                <a:solidFill>
                  <a:srgbClr val="00B0F0"/>
                </a:solidFill>
              </a:rPr>
              <a:t>peripheral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00B0F0"/>
                </a:solidFill>
              </a:rPr>
              <a:t>devices</a:t>
            </a:r>
            <a:r>
              <a:rPr lang="en-US" sz="3200" dirty="0" smtClean="0"/>
              <a:t> such as </a:t>
            </a:r>
            <a:r>
              <a:rPr lang="en-US" sz="3200" dirty="0" smtClean="0">
                <a:solidFill>
                  <a:srgbClr val="00B0F0"/>
                </a:solidFill>
              </a:rPr>
              <a:t>disk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00B0F0"/>
                </a:solidFill>
              </a:rPr>
              <a:t>drives</a:t>
            </a:r>
            <a:r>
              <a:rPr lang="en-US" sz="3200" dirty="0" smtClean="0"/>
              <a:t> and</a:t>
            </a:r>
            <a:r>
              <a:rPr lang="en-US" sz="3200" dirty="0" smtClean="0">
                <a:solidFill>
                  <a:srgbClr val="00B0F0"/>
                </a:solidFill>
              </a:rPr>
              <a:t> printers</a:t>
            </a:r>
            <a:endParaRPr lang="en-US" sz="32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7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163"/>
    </mc:Choice>
    <mc:Fallback xmlns="">
      <p:transition spd="slow" advTm="78163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19</a:t>
            </a:fld>
            <a:endParaRPr lang="en-US"/>
          </a:p>
        </p:txBody>
      </p:sp>
      <p:pic>
        <p:nvPicPr>
          <p:cNvPr id="5" name="Content Placeholder 4" descr="swJir.png"/>
          <p:cNvPicPr>
            <a:picLocks noGrp="1" noChangeAspect="1"/>
          </p:cNvPicPr>
          <p:nvPr>
            <p:ph sz="quarter" idx="13"/>
          </p:nvPr>
        </p:nvPicPr>
        <p:blipFill>
          <a:blip r:embed="rId3" cstate="print"/>
          <a:stretch>
            <a:fillRect/>
          </a:stretch>
        </p:blipFill>
        <p:spPr>
          <a:xfrm>
            <a:off x="1524000" y="1352550"/>
            <a:ext cx="6019800" cy="36576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675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373"/>
    </mc:Choice>
    <mc:Fallback xmlns="">
      <p:transition spd="slow" advTm="467373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Provide a user interface</a:t>
            </a:r>
          </a:p>
          <a:p>
            <a:pPr eaLnBrk="1" hangingPunct="1"/>
            <a:r>
              <a:rPr lang="en-US" dirty="0" smtClean="0"/>
              <a:t>Run programs</a:t>
            </a:r>
          </a:p>
          <a:p>
            <a:pPr eaLnBrk="1" hangingPunct="1"/>
            <a:r>
              <a:rPr lang="en-US" dirty="0" smtClean="0"/>
              <a:t>Manage hardware devices</a:t>
            </a:r>
          </a:p>
          <a:p>
            <a:pPr eaLnBrk="1" hangingPunct="1"/>
            <a:r>
              <a:rPr lang="en-US" dirty="0" smtClean="0"/>
              <a:t>Organized file storage</a:t>
            </a:r>
          </a:p>
          <a:p>
            <a:pPr eaLnBrk="1" hangingPunct="1"/>
            <a:r>
              <a:rPr lang="en-US" dirty="0" smtClean="0"/>
              <a:t>Memory management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526" y="87630"/>
            <a:ext cx="8153400" cy="10058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Functions of Operating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fld id="{C778BEBA-BAF2-42E8-A2C6-CA7CE5932C3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5" name="Picture 4" descr="Operating-System-The-Histor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5000" y="1428750"/>
            <a:ext cx="2857500" cy="2857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0" y="5299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558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270"/>
    </mc:Choice>
    <mc:Fallback xmlns="">
      <p:transition spd="slow" advTm="2827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479" y="117667"/>
            <a:ext cx="8153400" cy="10058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Characteristics of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Multi-user </a:t>
            </a:r>
          </a:p>
          <a:p>
            <a:pPr>
              <a:buNone/>
            </a:pPr>
            <a:r>
              <a:rPr lang="en-US" dirty="0" smtClean="0"/>
              <a:t>	Allows two or more users to run programs at the same time. Some operating systems permit </a:t>
            </a:r>
            <a:r>
              <a:rPr lang="en-US" b="1" dirty="0" smtClean="0">
                <a:solidFill>
                  <a:srgbClr val="00B0F0"/>
                </a:solidFill>
              </a:rPr>
              <a:t>hundreds</a:t>
            </a:r>
            <a:r>
              <a:rPr lang="en-US" dirty="0" smtClean="0"/>
              <a:t> or even </a:t>
            </a:r>
            <a:r>
              <a:rPr lang="en-US" b="1" dirty="0" smtClean="0">
                <a:solidFill>
                  <a:srgbClr val="00B0F0"/>
                </a:solidFill>
              </a:rPr>
              <a:t>thousands</a:t>
            </a:r>
            <a:r>
              <a:rPr lang="en-US" dirty="0" smtClean="0"/>
              <a:t> of concurrent users</a:t>
            </a:r>
          </a:p>
          <a:p>
            <a:r>
              <a:rPr lang="en-US" b="1" dirty="0" smtClean="0"/>
              <a:t>Multi-tasking</a:t>
            </a:r>
          </a:p>
          <a:p>
            <a:pPr>
              <a:buNone/>
            </a:pPr>
            <a:r>
              <a:rPr lang="en-US" dirty="0" smtClean="0"/>
              <a:t>	Allows a user to perform more than one computer </a:t>
            </a:r>
            <a:r>
              <a:rPr lang="en-US" b="1" dirty="0" smtClean="0">
                <a:solidFill>
                  <a:srgbClr val="00B0F0"/>
                </a:solidFill>
              </a:rPr>
              <a:t>task</a:t>
            </a:r>
            <a:r>
              <a:rPr lang="en-US" dirty="0" smtClean="0"/>
              <a:t> 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281"/>
    </mc:Choice>
    <mc:Fallback xmlns="">
      <p:transition spd="slow" advTm="11728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82"/>
            <a:ext cx="1450974" cy="10486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MULTI TASKING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There are two types of multitasking:</a:t>
            </a:r>
            <a:endParaRPr lang="en-US" dirty="0"/>
          </a:p>
          <a:p>
            <a:pPr lvl="0"/>
            <a:r>
              <a:rPr lang="en-US" dirty="0"/>
              <a:t>Preemptive multitasking. In preemptive multitasking, the operating system decides how to allocate CPU time slices to each program. ...</a:t>
            </a:r>
          </a:p>
          <a:p>
            <a:pPr lvl="0"/>
            <a:r>
              <a:rPr lang="en-US" dirty="0"/>
              <a:t>Cooperative multitasking. In cooperative multitasking, each program controls how much CPU time it needs.</a:t>
            </a:r>
          </a:p>
        </p:txBody>
      </p:sp>
    </p:spTree>
    <p:extLst>
      <p:ext uri="{BB962C8B-B14F-4D97-AF65-F5344CB8AC3E}">
        <p14:creationId xmlns:p14="http://schemas.microsoft.com/office/powerpoint/2010/main" val="2404279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PREEMTIVE MULTI TASKING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81380671"/>
              </p:ext>
            </p:extLst>
          </p:nvPr>
        </p:nvGraphicFramePr>
        <p:xfrm>
          <a:off x="1835467" y="1657350"/>
          <a:ext cx="5663565" cy="19917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7855"/>
                <a:gridCol w="1887855"/>
                <a:gridCol w="1887855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Process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Arrival Time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CPU Burst time (in millisec.)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2802" y="1285611"/>
            <a:ext cx="8169198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Let us take the example of Preemptive Scheduling. We have taken P0, P1, P2, and P3 are the four processes.</a:t>
            </a: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4" descr="Preemptive vs Non-Preemptive Schedu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9" y="3595339"/>
            <a:ext cx="42862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81000" y="4638645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02345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PREPRE EMTIVE </a:t>
            </a:r>
            <a:r>
              <a:rPr lang="en-US" dirty="0"/>
              <a:t>MULTI TASKING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F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irstly, the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comes at time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So, the CPU is assigned to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5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was running, process P3 arrived at time 1, and the remaining time for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P2 (5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 greater than the time needed by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P3 (4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So, the processor is assigned to P3.</a:t>
            </a:r>
            <a:endParaRPr lang="en-US" altLang="en-US" sz="25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P3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was running,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came at time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the remaining time for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P3 (3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 less than the time needed by processes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P1 (4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P2 (5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As a result,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P3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continues the execution.</a:t>
            </a:r>
            <a:endParaRPr lang="en-US" altLang="en-US" sz="25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P3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continues the process,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P0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arrives at time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P3's remaining time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 equal to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P0's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necessary time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So,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P3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continues the execution.</a:t>
            </a:r>
            <a:endParaRPr lang="en-US" altLang="en-US" sz="25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P3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finishes, the CPU is assigned to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P0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which has a shorter burst time than the other processes.</a:t>
            </a:r>
            <a:endParaRPr lang="en-US" altLang="en-US" sz="25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P0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completes, the CPU is assigned to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and then to process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" y="74904"/>
            <a:ext cx="1450974" cy="10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7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304800" y="1581150"/>
            <a:ext cx="8153400" cy="32004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sz="900" dirty="0"/>
          </a:p>
        </p:txBody>
      </p:sp>
      <p:pic>
        <p:nvPicPr>
          <p:cNvPr id="2049" name="Picture 5" descr="Preemptive vs Non-Preemptive Schedu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3638550"/>
            <a:ext cx="3752850" cy="128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52400" y="1352550"/>
            <a:ext cx="84582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Let's take the above preemptive scheduling example and solve it in a non-preemptive manner.</a:t>
            </a:r>
            <a:endParaRPr lang="en-US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The process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P2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comes at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0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so the processor is assigned to process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P2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and takes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(6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ms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to execute.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All of the processes,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P0, P1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and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P3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arrive in the ready queue in between. But all processes wait till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process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P2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finishes its CPU burst time.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After that, the process that comes after process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P2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i.e.,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P3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is assigned to the CPU until it finishes its burst time.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When process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P1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completes its execution, the CPU is given to process 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P0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828800" y="501107"/>
            <a:ext cx="6019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NON PRE EMTIVE </a:t>
            </a:r>
            <a:r>
              <a:rPr lang="en-US" sz="2800" b="1" dirty="0"/>
              <a:t>MULTI TASKING</a:t>
            </a:r>
          </a:p>
        </p:txBody>
      </p:sp>
    </p:spTree>
    <p:extLst>
      <p:ext uri="{BB962C8B-B14F-4D97-AF65-F5344CB8AC3E}">
        <p14:creationId xmlns:p14="http://schemas.microsoft.com/office/powerpoint/2010/main" val="3070751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1130"/>
            <a:ext cx="8153400" cy="1005840"/>
          </a:xfrm>
        </p:spPr>
        <p:txBody>
          <a:bodyPr/>
          <a:lstStyle/>
          <a:p>
            <a:r>
              <a:rPr lang="en-US" dirty="0" smtClean="0"/>
              <a:t>Multi-user / Multi tasking</a:t>
            </a:r>
            <a:endParaRPr lang="en-US" dirty="0"/>
          </a:p>
        </p:txBody>
      </p:sp>
      <p:pic>
        <p:nvPicPr>
          <p:cNvPr id="4" name="Content Placeholder 3" descr="muser.gif"/>
          <p:cNvPicPr>
            <a:picLocks noGrp="1" noChangeAspect="1"/>
          </p:cNvPicPr>
          <p:nvPr>
            <p:ph sz="quarter" idx="13"/>
          </p:nvPr>
        </p:nvPicPr>
        <p:blipFill>
          <a:blip r:embed="rId2" cstate="print"/>
          <a:stretch>
            <a:fillRect/>
          </a:stretch>
        </p:blipFill>
        <p:spPr>
          <a:xfrm>
            <a:off x="609600" y="1352550"/>
            <a:ext cx="7696200" cy="36576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622"/>
    </mc:Choice>
    <mc:Fallback xmlns="">
      <p:transition spd="slow" advTm="166622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1" y="167640"/>
            <a:ext cx="8153400" cy="10058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Characteristics of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657600"/>
          </a:xfrm>
        </p:spPr>
        <p:txBody>
          <a:bodyPr>
            <a:normAutofit/>
          </a:bodyPr>
          <a:lstStyle/>
          <a:p>
            <a:r>
              <a:rPr lang="en-US" b="1" dirty="0" smtClean="0"/>
              <a:t>Multiprocessing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800" dirty="0" smtClean="0"/>
              <a:t>Use of two or more </a:t>
            </a:r>
            <a:r>
              <a:rPr lang="en-US" sz="2800" b="1" dirty="0" smtClean="0">
                <a:solidFill>
                  <a:srgbClr val="00B0F0"/>
                </a:solidFill>
              </a:rPr>
              <a:t>central processing units</a:t>
            </a:r>
            <a:r>
              <a:rPr lang="en-US" sz="2800" dirty="0" smtClean="0"/>
              <a:t> (CPUs) within a single computer system for running a program or application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figure_4_multiple_cores_multithreadin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2200" y="3190875"/>
            <a:ext cx="4686300" cy="195262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810"/>
    </mc:Choice>
    <mc:Fallback xmlns="">
      <p:transition spd="slow" advTm="9081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47800" y="133350"/>
            <a:ext cx="7315199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Characteristics of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4953000" cy="358139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Multithreading</a:t>
            </a:r>
          </a:p>
          <a:p>
            <a:pPr lvl="1">
              <a:buNone/>
            </a:pPr>
            <a:r>
              <a:rPr lang="en-US" sz="3200" dirty="0" smtClean="0"/>
              <a:t>The ability of an </a:t>
            </a:r>
            <a:r>
              <a:rPr lang="en-US" sz="3200" dirty="0" smtClean="0">
                <a:solidFill>
                  <a:srgbClr val="00B0F0"/>
                </a:solidFill>
              </a:rPr>
              <a:t>operating</a:t>
            </a:r>
          </a:p>
          <a:p>
            <a:pPr lvl="1">
              <a:buNone/>
            </a:pPr>
            <a:r>
              <a:rPr lang="en-US" sz="3200" dirty="0" smtClean="0">
                <a:solidFill>
                  <a:srgbClr val="00B0F0"/>
                </a:solidFill>
              </a:rPr>
              <a:t>system</a:t>
            </a:r>
            <a:r>
              <a:rPr lang="en-US" sz="3200" dirty="0" smtClean="0"/>
              <a:t> to </a:t>
            </a:r>
            <a:r>
              <a:rPr lang="en-US" sz="3200" dirty="0" smtClean="0">
                <a:solidFill>
                  <a:srgbClr val="00B0F0"/>
                </a:solidFill>
              </a:rPr>
              <a:t>execute</a:t>
            </a:r>
            <a:r>
              <a:rPr lang="en-US" sz="3200" dirty="0" smtClean="0"/>
              <a:t> different </a:t>
            </a:r>
          </a:p>
          <a:p>
            <a:pPr lvl="1">
              <a:buNone/>
            </a:pPr>
            <a:r>
              <a:rPr lang="en-US" sz="3200" dirty="0" smtClean="0"/>
              <a:t>parts of a </a:t>
            </a:r>
            <a:r>
              <a:rPr lang="en-US" sz="3200" dirty="0" smtClean="0">
                <a:solidFill>
                  <a:srgbClr val="00B0F0"/>
                </a:solidFill>
              </a:rPr>
              <a:t>program</a:t>
            </a:r>
            <a:r>
              <a:rPr lang="en-US" sz="3200" dirty="0" smtClean="0"/>
              <a:t>, called</a:t>
            </a:r>
          </a:p>
          <a:p>
            <a:pPr lvl="1">
              <a:buNone/>
            </a:pPr>
            <a:r>
              <a:rPr lang="en-US" sz="3200" b="1" i="1" dirty="0" smtClean="0">
                <a:solidFill>
                  <a:srgbClr val="FF0000"/>
                </a:solidFill>
              </a:rPr>
              <a:t>threads</a:t>
            </a:r>
            <a:r>
              <a:rPr lang="en-US" sz="3200" i="1" dirty="0" smtClean="0"/>
              <a:t>, </a:t>
            </a:r>
            <a:r>
              <a:rPr lang="en-US" sz="3200" dirty="0" smtClean="0"/>
              <a:t>simultaneously</a:t>
            </a:r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7" name="Content Placeholder 6" descr="Untitled.jpg"/>
          <p:cNvPicPr>
            <a:picLocks noGrp="1" noChangeAspect="1"/>
          </p:cNvPicPr>
          <p:nvPr>
            <p:ph sz="quarter" idx="14"/>
          </p:nvPr>
        </p:nvPicPr>
        <p:blipFill>
          <a:blip r:embed="rId2" cstate="print"/>
          <a:stretch>
            <a:fillRect/>
          </a:stretch>
        </p:blipFill>
        <p:spPr>
          <a:xfrm>
            <a:off x="5562600" y="1428750"/>
            <a:ext cx="3392009" cy="3268663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28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121"/>
    </mc:Choice>
    <mc:Fallback xmlns="">
      <p:transition spd="slow" advTm="99121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61957"/>
            <a:ext cx="8153400" cy="10058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Characteristics of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505200"/>
          </a:xfrm>
        </p:spPr>
        <p:txBody>
          <a:bodyPr>
            <a:normAutofit fontScale="55000" lnSpcReduction="20000"/>
          </a:bodyPr>
          <a:lstStyle/>
          <a:p>
            <a:r>
              <a:rPr lang="en-US" sz="4100" b="1" dirty="0" smtClean="0"/>
              <a:t>Real time</a:t>
            </a:r>
          </a:p>
          <a:p>
            <a:pPr>
              <a:lnSpc>
                <a:spcPct val="120000"/>
              </a:lnSpc>
              <a:buNone/>
            </a:pPr>
            <a:r>
              <a:rPr lang="en-US" dirty="0" smtClean="0"/>
              <a:t>	</a:t>
            </a:r>
            <a:r>
              <a:rPr lang="en-US" sz="4000" dirty="0" smtClean="0"/>
              <a:t>A system is said to be </a:t>
            </a:r>
            <a:r>
              <a:rPr lang="en-US" sz="4000" b="1" dirty="0" smtClean="0">
                <a:solidFill>
                  <a:srgbClr val="00B0F0"/>
                </a:solidFill>
              </a:rPr>
              <a:t>Real Time </a:t>
            </a:r>
            <a:r>
              <a:rPr lang="en-US" sz="4000" dirty="0" smtClean="0"/>
              <a:t>if it is required to complete it’s work &amp; deliver it’s </a:t>
            </a:r>
            <a:r>
              <a:rPr lang="en-US" sz="4000" b="1" dirty="0" smtClean="0">
                <a:solidFill>
                  <a:srgbClr val="00B0F0"/>
                </a:solidFill>
              </a:rPr>
              <a:t>services on time </a:t>
            </a:r>
            <a:r>
              <a:rPr lang="en-US" sz="4000" dirty="0" smtClean="0"/>
              <a:t>or instantly</a:t>
            </a:r>
          </a:p>
          <a:p>
            <a:pPr lvl="1">
              <a:lnSpc>
                <a:spcPct val="120000"/>
              </a:lnSpc>
            </a:pPr>
            <a:r>
              <a:rPr lang="en-US" sz="4000" dirty="0" smtClean="0"/>
              <a:t>Example – Flight Control System</a:t>
            </a:r>
          </a:p>
          <a:p>
            <a:pPr lvl="1">
              <a:lnSpc>
                <a:spcPct val="120000"/>
              </a:lnSpc>
            </a:pPr>
            <a:r>
              <a:rPr lang="en-US" sz="4000" dirty="0" smtClean="0"/>
              <a:t>All tasks in that system must execute on time.</a:t>
            </a:r>
          </a:p>
          <a:p>
            <a:pPr lvl="2"/>
            <a:r>
              <a:rPr lang="en-US" sz="2900" dirty="0"/>
              <a:t>Very fast small OS</a:t>
            </a:r>
          </a:p>
          <a:p>
            <a:pPr lvl="2"/>
            <a:r>
              <a:rPr lang="en-US" sz="2900" dirty="0"/>
              <a:t>Built into a device</a:t>
            </a:r>
          </a:p>
          <a:p>
            <a:pPr lvl="2"/>
            <a:r>
              <a:rPr lang="en-US" sz="2900" dirty="0"/>
              <a:t>Respond quickly to user input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76200" y="-1524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019"/>
    </mc:Choice>
    <mc:Fallback xmlns="">
      <p:transition spd="slow" advTm="91019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1" y="118110"/>
            <a:ext cx="8153400" cy="10058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Characteristics of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7909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/>
              <a:t>Hard Real Time System</a:t>
            </a:r>
            <a:r>
              <a:rPr lang="en-US" sz="2800" dirty="0" smtClean="0"/>
              <a:t>	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Failure to meet deadlines is </a:t>
            </a:r>
            <a:r>
              <a:rPr lang="en-US" sz="2400" dirty="0" smtClean="0">
                <a:solidFill>
                  <a:srgbClr val="00B0F0"/>
                </a:solidFill>
              </a:rPr>
              <a:t>fatal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example : Flight Control System</a:t>
            </a:r>
          </a:p>
          <a:p>
            <a:pPr lvl="1">
              <a:lnSpc>
                <a:spcPct val="90000"/>
              </a:lnSpc>
              <a:buNone/>
            </a:pPr>
            <a:endParaRPr lang="en-US" sz="2400" dirty="0" smtClean="0"/>
          </a:p>
          <a:p>
            <a:pPr>
              <a:lnSpc>
                <a:spcPct val="90000"/>
              </a:lnSpc>
            </a:pPr>
            <a:r>
              <a:rPr lang="en-US" sz="2800" b="1" dirty="0" smtClean="0"/>
              <a:t>Soft Real Time System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Late completion of jobs is </a:t>
            </a:r>
            <a:r>
              <a:rPr lang="en-US" sz="2400" dirty="0" smtClean="0">
                <a:solidFill>
                  <a:srgbClr val="00B0F0"/>
                </a:solidFill>
              </a:rPr>
              <a:t>undesirable</a:t>
            </a:r>
            <a:r>
              <a:rPr lang="en-US" sz="2400" dirty="0" smtClean="0"/>
              <a:t> but </a:t>
            </a:r>
            <a:r>
              <a:rPr lang="en-US" sz="2400" dirty="0" smtClean="0">
                <a:solidFill>
                  <a:srgbClr val="00B0F0"/>
                </a:solidFill>
              </a:rPr>
              <a:t>not fatal</a:t>
            </a:r>
            <a:endParaRPr lang="en-US" sz="2400" dirty="0" smtClean="0"/>
          </a:p>
          <a:p>
            <a:pPr lvl="1">
              <a:lnSpc>
                <a:spcPct val="90000"/>
              </a:lnSpc>
            </a:pPr>
            <a:r>
              <a:rPr lang="en-US" sz="2400" dirty="0" smtClean="0"/>
              <a:t>System performance </a:t>
            </a:r>
            <a:r>
              <a:rPr lang="en-US" sz="2400" dirty="0" smtClean="0">
                <a:solidFill>
                  <a:srgbClr val="00B0F0"/>
                </a:solidFill>
              </a:rPr>
              <a:t>degrades</a:t>
            </a:r>
            <a:r>
              <a:rPr lang="en-US" sz="2400" dirty="0" smtClean="0"/>
              <a:t> as more &amp; more jobs miss deadlines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Online Databases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414"/>
    </mc:Choice>
    <mc:Fallback xmlns="">
      <p:transition spd="slow" advTm="125414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612648" y="1352550"/>
            <a:ext cx="8153400" cy="3657600"/>
          </a:xfrm>
        </p:spPr>
        <p:txBody>
          <a:bodyPr>
            <a:normAutofit fontScale="62500" lnSpcReduction="20000"/>
          </a:bodyPr>
          <a:lstStyle/>
          <a:p>
            <a:pPr eaLnBrk="1" hangingPunct="1"/>
            <a:r>
              <a:rPr lang="en-US" sz="5100" dirty="0" smtClean="0"/>
              <a:t>Real-time operating system</a:t>
            </a:r>
          </a:p>
          <a:p>
            <a:pPr>
              <a:lnSpc>
                <a:spcPct val="120000"/>
              </a:lnSpc>
              <a:buNone/>
            </a:pPr>
            <a:r>
              <a:rPr lang="en-US" sz="4000" dirty="0" smtClean="0"/>
              <a:t>A system is said to be </a:t>
            </a:r>
            <a:r>
              <a:rPr lang="en-US" sz="4000" b="1" dirty="0" smtClean="0">
                <a:solidFill>
                  <a:srgbClr val="00B0F0"/>
                </a:solidFill>
              </a:rPr>
              <a:t>Real Time </a:t>
            </a:r>
            <a:r>
              <a:rPr lang="en-US" sz="4000" dirty="0" smtClean="0"/>
              <a:t>if it is required to complete</a:t>
            </a:r>
          </a:p>
          <a:p>
            <a:pPr>
              <a:lnSpc>
                <a:spcPct val="120000"/>
              </a:lnSpc>
              <a:buNone/>
            </a:pPr>
            <a:r>
              <a:rPr lang="en-US" sz="4000" dirty="0" smtClean="0"/>
              <a:t>it’s work &amp; deliver it’s </a:t>
            </a:r>
            <a:r>
              <a:rPr lang="en-US" sz="4000" b="1" dirty="0" smtClean="0">
                <a:solidFill>
                  <a:srgbClr val="00B0F0"/>
                </a:solidFill>
              </a:rPr>
              <a:t>services on time </a:t>
            </a:r>
            <a:r>
              <a:rPr lang="en-US" sz="4000" dirty="0" smtClean="0"/>
              <a:t>or instantly</a:t>
            </a:r>
          </a:p>
          <a:p>
            <a:pPr lvl="1">
              <a:lnSpc>
                <a:spcPct val="120000"/>
              </a:lnSpc>
            </a:pPr>
            <a:r>
              <a:rPr lang="en-US" sz="4000" dirty="0" smtClean="0"/>
              <a:t>Example – Flight Control System, Medical devices</a:t>
            </a:r>
          </a:p>
          <a:p>
            <a:pPr lvl="1">
              <a:lnSpc>
                <a:spcPct val="120000"/>
              </a:lnSpc>
            </a:pPr>
            <a:r>
              <a:rPr lang="en-US" sz="4000" dirty="0" smtClean="0"/>
              <a:t>All tasks in that system must execute on time</a:t>
            </a:r>
            <a:endParaRPr lang="en-US" dirty="0" smtClean="0"/>
          </a:p>
          <a:p>
            <a:pPr lvl="2"/>
            <a:r>
              <a:rPr lang="en-US" sz="2900" dirty="0" smtClean="0"/>
              <a:t>Very fast small OS</a:t>
            </a:r>
          </a:p>
          <a:p>
            <a:pPr lvl="2"/>
            <a:r>
              <a:rPr lang="en-US" sz="2900" dirty="0" smtClean="0"/>
              <a:t>Built into a device</a:t>
            </a:r>
          </a:p>
          <a:p>
            <a:pPr lvl="2"/>
            <a:r>
              <a:rPr lang="en-US" sz="2900" dirty="0" smtClean="0"/>
              <a:t>Respond quickly to user input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17202"/>
            <a:ext cx="8153400" cy="10058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Types of Operating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fld id="{C778BEBA-BAF2-42E8-A2C6-CA7CE5932C3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051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76"/>
    </mc:Choice>
    <mc:Fallback xmlns="">
      <p:transition spd="slow" advTm="21276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Single user/Single tasking OS</a:t>
            </a:r>
          </a:p>
          <a:p>
            <a:pPr lvl="1" eaLnBrk="1" hangingPunct="1"/>
            <a:r>
              <a:rPr lang="en-US" smtClean="0"/>
              <a:t>One user works on the system</a:t>
            </a:r>
          </a:p>
          <a:p>
            <a:pPr lvl="1" eaLnBrk="1" hangingPunct="1"/>
            <a:r>
              <a:rPr lang="en-US" smtClean="0"/>
              <a:t>Performs one task at a time</a:t>
            </a:r>
          </a:p>
          <a:p>
            <a:pPr lvl="1" eaLnBrk="1" hangingPunct="1"/>
            <a:r>
              <a:rPr lang="en-US" smtClean="0"/>
              <a:t>MS-DOS and Palm OS</a:t>
            </a:r>
          </a:p>
          <a:p>
            <a:pPr lvl="1" eaLnBrk="1" hangingPunct="1"/>
            <a:r>
              <a:rPr lang="en-US" smtClean="0"/>
              <a:t>Take up little space on disk</a:t>
            </a:r>
          </a:p>
          <a:p>
            <a:pPr lvl="1" eaLnBrk="1" hangingPunct="1"/>
            <a:r>
              <a:rPr lang="en-US" smtClean="0"/>
              <a:t>Run on inexpensive computers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17667"/>
            <a:ext cx="8153400" cy="10058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Types of Operating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fld id="{C778BEBA-BAF2-42E8-A2C6-CA7CE5932C3B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34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440"/>
    </mc:Choice>
    <mc:Fallback xmlns="">
      <p:transition spd="slow" advTm="79440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612648" y="1352550"/>
            <a:ext cx="8153400" cy="35814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 smtClean="0"/>
              <a:t>Single user/Multitasking OS</a:t>
            </a:r>
          </a:p>
          <a:p>
            <a:pPr lvl="1" eaLnBrk="1" hangingPunct="1"/>
            <a:r>
              <a:rPr lang="en-US" dirty="0" smtClean="0"/>
              <a:t>User performs many tasks at once</a:t>
            </a:r>
          </a:p>
          <a:p>
            <a:pPr lvl="1" eaLnBrk="1" hangingPunct="1"/>
            <a:r>
              <a:rPr lang="en-US" dirty="0" smtClean="0"/>
              <a:t>Most common form of OS</a:t>
            </a:r>
          </a:p>
          <a:p>
            <a:pPr lvl="1" eaLnBrk="1" hangingPunct="1"/>
            <a:r>
              <a:rPr lang="en-US" dirty="0" smtClean="0"/>
              <a:t>Windows XP/7/8 and OS X</a:t>
            </a:r>
          </a:p>
          <a:p>
            <a:pPr lvl="1" eaLnBrk="1" hangingPunct="1"/>
            <a:r>
              <a:rPr lang="en-US" dirty="0" smtClean="0"/>
              <a:t>Require expensive computers</a:t>
            </a:r>
          </a:p>
          <a:p>
            <a:pPr lvl="1" eaLnBrk="1" hangingPunct="1"/>
            <a:r>
              <a:rPr lang="en-US" dirty="0" smtClean="0"/>
              <a:t>Tend to be complex</a:t>
            </a:r>
          </a:p>
          <a:p>
            <a:r>
              <a:rPr lang="en-US" dirty="0" smtClean="0"/>
              <a:t>Multi-tasking operating systems are complex</a:t>
            </a:r>
          </a:p>
          <a:p>
            <a:r>
              <a:rPr lang="en-US" dirty="0" smtClean="0"/>
              <a:t>However both XP and OS X make the multitasking process painless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58282" y="163150"/>
            <a:ext cx="8153400" cy="10058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Types of Operating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fld id="{C778BEBA-BAF2-42E8-A2C6-CA7CE5932C3B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0" y="18607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24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928"/>
    </mc:Choice>
    <mc:Fallback xmlns="">
      <p:transition spd="slow" advTm="49928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Multi user/Multitasking OS</a:t>
            </a:r>
          </a:p>
          <a:p>
            <a:pPr lvl="1">
              <a:buNone/>
            </a:pPr>
            <a:r>
              <a:rPr lang="en-US" dirty="0" smtClean="0"/>
              <a:t>Found on supercomputers, mainframes and minicomputers</a:t>
            </a:r>
          </a:p>
          <a:p>
            <a:pPr lvl="1" eaLnBrk="1" hangingPunct="1"/>
            <a:r>
              <a:rPr lang="en-US" dirty="0" smtClean="0"/>
              <a:t>Many users connect to one computer</a:t>
            </a:r>
          </a:p>
          <a:p>
            <a:pPr lvl="1" eaLnBrk="1" hangingPunct="1"/>
            <a:r>
              <a:rPr lang="en-US" dirty="0" smtClean="0"/>
              <a:t>Each user has a unique session</a:t>
            </a:r>
          </a:p>
          <a:p>
            <a:pPr lvl="1" eaLnBrk="1" hangingPunct="1"/>
            <a:r>
              <a:rPr lang="en-US" dirty="0" smtClean="0"/>
              <a:t>UNIX, Linux, and VMS</a:t>
            </a:r>
          </a:p>
          <a:p>
            <a:pPr lvl="1" eaLnBrk="1" hangingPunct="1"/>
            <a:r>
              <a:rPr lang="en-US" dirty="0" smtClean="0"/>
              <a:t>Maintenance can be easy</a:t>
            </a:r>
          </a:p>
          <a:p>
            <a:pPr lvl="1" eaLnBrk="1" hangingPunct="1"/>
            <a:r>
              <a:rPr lang="en-US" dirty="0" smtClean="0"/>
              <a:t>Requires a powerful computer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13677" y="94900"/>
            <a:ext cx="8153400" cy="10058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Types of Operating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fld id="{C778BEBA-BAF2-42E8-A2C6-CA7CE5932C3B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0" y="5299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863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308"/>
    </mc:Choice>
    <mc:Fallback xmlns="">
      <p:transition spd="slow" advTm="57308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1033"/>
          <p:cNvSpPr>
            <a:spLocks noChangeArrowheads="1"/>
          </p:cNvSpPr>
          <p:nvPr/>
        </p:nvSpPr>
        <p:spPr bwMode="auto">
          <a:xfrm>
            <a:off x="1143000" y="1543050"/>
            <a:ext cx="7620000" cy="28575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27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0" y="223257"/>
            <a:ext cx="8153400" cy="100584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Multi user/Multi tasking OS</a:t>
            </a:r>
          </a:p>
        </p:txBody>
      </p:sp>
      <p:pic>
        <p:nvPicPr>
          <p:cNvPr id="16388" name="Picture 1031" descr="nor78902_A0703L"/>
          <p:cNvPicPr>
            <a:picLocks noChangeAspect="1" noChangeArrowheads="1"/>
          </p:cNvPicPr>
          <p:nvPr/>
        </p:nvPicPr>
        <p:blipFill>
          <a:blip r:embed="rId2" cstate="print"/>
          <a:srcRect l="2913" t="7524" r="2913"/>
          <a:stretch>
            <a:fillRect/>
          </a:stretch>
        </p:blipFill>
        <p:spPr bwMode="auto">
          <a:xfrm>
            <a:off x="1295400" y="1832373"/>
            <a:ext cx="7391400" cy="23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35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691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21"/>
    </mc:Choice>
    <mc:Fallback xmlns="">
      <p:transition spd="slow" advTm="48921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38150"/>
            <a:ext cx="73914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Classification of Operating systems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657600"/>
          </a:xfrm>
        </p:spPr>
        <p:txBody>
          <a:bodyPr>
            <a:noAutofit/>
          </a:bodyPr>
          <a:lstStyle/>
          <a:p>
            <a:r>
              <a:rPr lang="en-US" sz="2200" b="1" dirty="0" smtClean="0">
                <a:solidFill>
                  <a:srgbClr val="00B0F0"/>
                </a:solidFill>
              </a:rPr>
              <a:t>Multi-user:</a:t>
            </a:r>
            <a:r>
              <a:rPr lang="en-US" sz="2200" dirty="0" smtClean="0"/>
              <a:t> Allows two or more users to run programs at the same time. Some operating systems permit hundreds or even thousands of concurrent users.</a:t>
            </a:r>
          </a:p>
          <a:p>
            <a:r>
              <a:rPr lang="en-US" sz="2200" b="1" dirty="0" smtClean="0">
                <a:solidFill>
                  <a:srgbClr val="00B0F0"/>
                </a:solidFill>
              </a:rPr>
              <a:t>Multiprocessing</a:t>
            </a:r>
            <a:r>
              <a:rPr lang="en-US" sz="2200" dirty="0" smtClean="0">
                <a:solidFill>
                  <a:srgbClr val="00B0F0"/>
                </a:solidFill>
              </a:rPr>
              <a:t> </a:t>
            </a:r>
            <a:r>
              <a:rPr lang="en-US" sz="2200" b="1" dirty="0" smtClean="0">
                <a:solidFill>
                  <a:srgbClr val="00B0F0"/>
                </a:solidFill>
              </a:rPr>
              <a:t>:</a:t>
            </a:r>
            <a:r>
              <a:rPr lang="en-US" sz="2200" dirty="0" smtClean="0"/>
              <a:t> Supports running a program on more than one CPU.</a:t>
            </a:r>
          </a:p>
          <a:p>
            <a:r>
              <a:rPr lang="en-US" sz="2200" b="1" dirty="0" smtClean="0">
                <a:solidFill>
                  <a:srgbClr val="00B0F0"/>
                </a:solidFill>
              </a:rPr>
              <a:t>Multitasking</a:t>
            </a:r>
            <a:r>
              <a:rPr lang="en-US" sz="2200" dirty="0" smtClean="0">
                <a:solidFill>
                  <a:srgbClr val="00B0F0"/>
                </a:solidFill>
              </a:rPr>
              <a:t> </a:t>
            </a:r>
            <a:r>
              <a:rPr lang="en-US" sz="2200" b="1" dirty="0" smtClean="0">
                <a:solidFill>
                  <a:srgbClr val="00B0F0"/>
                </a:solidFill>
              </a:rPr>
              <a:t>:</a:t>
            </a:r>
            <a:r>
              <a:rPr lang="en-US" sz="2200" dirty="0" smtClean="0"/>
              <a:t> Allows more than one program to run concurrently.</a:t>
            </a:r>
          </a:p>
          <a:p>
            <a:r>
              <a:rPr lang="en-US" sz="2200" b="1" dirty="0" smtClean="0">
                <a:solidFill>
                  <a:srgbClr val="00B0F0"/>
                </a:solidFill>
              </a:rPr>
              <a:t>Multithreading</a:t>
            </a:r>
            <a:r>
              <a:rPr lang="en-US" sz="2200" dirty="0" smtClean="0">
                <a:solidFill>
                  <a:srgbClr val="00B0F0"/>
                </a:solidFill>
              </a:rPr>
              <a:t> </a:t>
            </a:r>
            <a:r>
              <a:rPr lang="en-US" sz="2200" b="1" dirty="0" smtClean="0">
                <a:solidFill>
                  <a:srgbClr val="00B0F0"/>
                </a:solidFill>
              </a:rPr>
              <a:t>:</a:t>
            </a:r>
            <a:r>
              <a:rPr lang="en-US" sz="2200" b="1" dirty="0" smtClean="0"/>
              <a:t> </a:t>
            </a:r>
            <a:r>
              <a:rPr lang="en-US" sz="2200" dirty="0" smtClean="0"/>
              <a:t>Allows different parts of a single program to run concurrently.</a:t>
            </a:r>
          </a:p>
          <a:p>
            <a:r>
              <a:rPr lang="en-US" sz="2200" b="1" dirty="0" smtClean="0">
                <a:solidFill>
                  <a:srgbClr val="00B0F0"/>
                </a:solidFill>
              </a:rPr>
              <a:t>Real time:</a:t>
            </a:r>
            <a:r>
              <a:rPr lang="en-US" sz="2200" dirty="0" smtClean="0"/>
              <a:t> Responds to input instantly. </a:t>
            </a:r>
            <a:endParaRPr lang="en-US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0" y="16702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549"/>
    </mc:Choice>
    <mc:Fallback xmlns="">
      <p:transition spd="slow" advTm="101549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1781" y="117667"/>
            <a:ext cx="8153400" cy="1005840"/>
          </a:xfrm>
        </p:spPr>
        <p:txBody>
          <a:bodyPr/>
          <a:lstStyle/>
          <a:p>
            <a:r>
              <a:rPr lang="en-US" dirty="0" smtClean="0"/>
              <a:t>Device Driver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en-US" sz="3200" dirty="0" smtClean="0"/>
              <a:t> A </a:t>
            </a:r>
            <a:r>
              <a:rPr lang="en-US" sz="3200" b="1" dirty="0" smtClean="0">
                <a:solidFill>
                  <a:srgbClr val="00B0F0"/>
                </a:solidFill>
              </a:rPr>
              <a:t>device driver</a:t>
            </a:r>
            <a:r>
              <a:rPr lang="en-US" sz="3200" dirty="0" smtClean="0"/>
              <a:t> (commonly referred to as simply a </a:t>
            </a:r>
            <a:r>
              <a:rPr lang="en-US" sz="3200" b="1" dirty="0" smtClean="0"/>
              <a:t>driver</a:t>
            </a:r>
            <a:r>
              <a:rPr lang="en-US" sz="3200" dirty="0" smtClean="0"/>
              <a:t>) is a computer program that </a:t>
            </a:r>
            <a:r>
              <a:rPr lang="en-US" sz="3200" dirty="0" smtClean="0">
                <a:solidFill>
                  <a:srgbClr val="00B0F0"/>
                </a:solidFill>
              </a:rPr>
              <a:t>operates or controls </a:t>
            </a:r>
            <a:r>
              <a:rPr lang="en-US" sz="3200" dirty="0" smtClean="0"/>
              <a:t>a particular </a:t>
            </a:r>
            <a:r>
              <a:rPr lang="en-US" sz="3200" dirty="0" smtClean="0">
                <a:solidFill>
                  <a:srgbClr val="00B0F0"/>
                </a:solidFill>
              </a:rPr>
              <a:t>type</a:t>
            </a:r>
            <a:r>
              <a:rPr lang="en-US" sz="3200" dirty="0" smtClean="0"/>
              <a:t> of </a:t>
            </a:r>
            <a:r>
              <a:rPr lang="en-US" sz="3200" dirty="0" smtClean="0">
                <a:solidFill>
                  <a:srgbClr val="00B0F0"/>
                </a:solidFill>
              </a:rPr>
              <a:t>device</a:t>
            </a:r>
            <a:r>
              <a:rPr lang="en-US" sz="3200" dirty="0" smtClean="0"/>
              <a:t> that is attached to a computer.</a:t>
            </a:r>
          </a:p>
          <a:p>
            <a:pPr algn="just"/>
            <a:r>
              <a:rPr lang="en-US" sz="3200" dirty="0" smtClean="0"/>
              <a:t>Examples </a:t>
            </a:r>
            <a:r>
              <a:rPr lang="en-US" dirty="0" smtClean="0"/>
              <a:t>Mouse driver, keyboard driver, video card driver, sound card driver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8073"/>
    </mc:Choice>
    <mc:Fallback xmlns="">
      <p:transition spd="slow" advTm="278073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Device Driver</a:t>
            </a:r>
            <a:endParaRPr lang="en-US" dirty="0"/>
          </a:p>
        </p:txBody>
      </p:sp>
      <p:pic>
        <p:nvPicPr>
          <p:cNvPr id="4" name="Content Placeholder 3" descr="Untitled.jpg"/>
          <p:cNvPicPr>
            <a:picLocks noGrp="1" noChangeAspect="1"/>
          </p:cNvPicPr>
          <p:nvPr>
            <p:ph sz="quarter" idx="13"/>
          </p:nvPr>
        </p:nvPicPr>
        <p:blipFill>
          <a:blip r:embed="rId2" cstate="print"/>
          <a:stretch>
            <a:fillRect/>
          </a:stretch>
        </p:blipFill>
        <p:spPr>
          <a:xfrm>
            <a:off x="685800" y="1438274"/>
            <a:ext cx="8153400" cy="349567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55000" lnSpcReduction="20000"/>
          </a:bodyPr>
          <a:lstStyle/>
          <a:p>
            <a:fld id="{8F82E0A0-C266-4798-8C8F-B9F91E9DA37E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16"/>
    </mc:Choice>
    <mc:Fallback xmlns="">
      <p:transition spd="slow" advTm="65116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8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</a:p>
          <a:p>
            <a:pPr marL="0" indent="0">
              <a:buNone/>
            </a:pPr>
            <a:r>
              <a:rPr lang="en-US" sz="8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</a:t>
            </a:r>
            <a:endParaRPr lang="en-US" sz="8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05" y="0"/>
            <a:ext cx="2435451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9" t="23111" r="12500" b="7111"/>
          <a:stretch>
            <a:fillRect/>
          </a:stretch>
        </p:blipFill>
        <p:spPr bwMode="auto">
          <a:xfrm>
            <a:off x="1" y="0"/>
            <a:ext cx="1447800" cy="1047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423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700"/>
    </mc:Choice>
    <mc:Fallback xmlns="">
      <p:transition spd="slow" advTm="76700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MPUTING FUNDAMENTALS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COMPUTING FUNDAMENTALS</Template>
  <TotalTime>0</TotalTime>
  <Words>897</Words>
  <Application>Microsoft Office PowerPoint</Application>
  <PresentationFormat>On-screen Show (16:9)</PresentationFormat>
  <Paragraphs>272</Paragraphs>
  <Slides>39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Segoe UI</vt:lpstr>
      <vt:lpstr>Times New Roman</vt:lpstr>
      <vt:lpstr>Tw Cen MT</vt:lpstr>
      <vt:lpstr>Wingdings</vt:lpstr>
      <vt:lpstr>Wingdings 2</vt:lpstr>
      <vt:lpstr>COMPUTING FUNDAMENTALS</vt:lpstr>
      <vt:lpstr>Introduction to Software   Lecture 5 : week 11</vt:lpstr>
      <vt:lpstr>TEXT AND REF. BOOKS</vt:lpstr>
      <vt:lpstr>MOBILE ALERT</vt:lpstr>
      <vt:lpstr>Presented by: Simra Najm </vt:lpstr>
      <vt:lpstr>Learning Outcome</vt:lpstr>
      <vt:lpstr>What is a Software ?</vt:lpstr>
      <vt:lpstr>Types of Software</vt:lpstr>
      <vt:lpstr>System Software</vt:lpstr>
      <vt:lpstr>System Software</vt:lpstr>
      <vt:lpstr>System Software</vt:lpstr>
      <vt:lpstr>       Application Software</vt:lpstr>
      <vt:lpstr>      Open Source Software</vt:lpstr>
      <vt:lpstr>      Open Source Software</vt:lpstr>
      <vt:lpstr>     Proprietary Software</vt:lpstr>
      <vt:lpstr>     Proprietary Software</vt:lpstr>
      <vt:lpstr>      Types of System Software</vt:lpstr>
      <vt:lpstr>       Operating System</vt:lpstr>
      <vt:lpstr>     Operating System</vt:lpstr>
      <vt:lpstr>OS</vt:lpstr>
      <vt:lpstr>Functions of Operating Systems</vt:lpstr>
      <vt:lpstr> Characteristics of Operating systems</vt:lpstr>
      <vt:lpstr>      MULTI TASKING</vt:lpstr>
      <vt:lpstr>      PREEMTIVE MULTI TASKING</vt:lpstr>
      <vt:lpstr>PREPRE EMTIVE MULTI TASKING</vt:lpstr>
      <vt:lpstr>PowerPoint Presentation</vt:lpstr>
      <vt:lpstr>Multi-user / Multi tasking</vt:lpstr>
      <vt:lpstr> Characteristics of Operating systems</vt:lpstr>
      <vt:lpstr> Characteristics of Operating systems</vt:lpstr>
      <vt:lpstr> Characteristics of Operating systems</vt:lpstr>
      <vt:lpstr> Characteristics of Operating systems</vt:lpstr>
      <vt:lpstr>Types of Operating Systems</vt:lpstr>
      <vt:lpstr>Types of Operating Systems</vt:lpstr>
      <vt:lpstr>Types of Operating Systems</vt:lpstr>
      <vt:lpstr>Types of Operating Systems</vt:lpstr>
      <vt:lpstr>Multi user/Multi tasking OS</vt:lpstr>
      <vt:lpstr>Classification of Operating systems</vt:lpstr>
      <vt:lpstr>Device Driver</vt:lpstr>
      <vt:lpstr>Device Driver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2014-09-01T03:46:13Z</dcterms:created>
  <dcterms:modified xsi:type="dcterms:W3CDTF">2022-12-20T10:20:16Z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